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introduces the foundational concepts of data analytics, including what it is, why it matters, the four core types of analytics, the CRISP-DM lifecycle framework, real-world business applications, and foundational case studies. By the end, you will have a solid understanding of how data drives modern decision-making across industries.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analytics is formally defined as the process of examining, cleaning, transforming, and modeling data to discover useful information, draw conclusions, and support decision-making. Its primary purpose is to help organizations at all levels make better and faster decisions. The explosive growth of digital data combined with advances in computing power has elevated analytics to one of the most valuable capabilities any organization can develop. It is not limited to one sector — virtually every industry now relies on analytics to solve domain-specific problems.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Gaining insights means identifying meaningful patterns, trends, and relationships within data that an organization can act upon. These insights are not just interesting — they are actionable. Organizations that leverage analytics effectively can outperform competitors by anticipating market changes before they occur, optimizing internal operations for efficiency, and personalizing customer experiences at scale. The competitive advantage is real and measurable, making analytics a strategic priority for leading organizations worldwide.</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analytics landscape is organized into four progressive types, each answering a different business question. Descriptive analytics is the foundation, summarizing historical data. Diagnostic analytics digs deeper to uncover root causes. Predictive analytics uses statistical models and machine learning to forecast future outcomes. Prescriptive analytics is the most advanced, combining predictions with optimization to recommend specific actions. Together they form a value chain where each stage is more powerful and complex than the last.</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Descriptive analytics is the most commonly used type and serves as the starting point for any analysis. It answers the question 'What happened?' through reports, dashboards, and summary statistics drawn from historical data. Diagnostic analytics goes one step further by examining that historical data to uncover why something happened. Analysts use techniques like drill-down analysis, correlation studies, and data segmentation to identify root causes. These two foundational types are essential before moving toward prediction and recommendation.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Predictive analytics moves beyond understanding the past to forecasting the future. It applies statistical models and machine learning algorithms to historical data to estimate the likelihood of future events. Prescriptive analytics is the most sophisticated level, combining predictive outputs with optimization techniques to recommend the best course of action. For example, not only predicting which customers are likely to churn, but prescribing the exact intervention most likely to retain them. This progressive spectrum of analytics is what separates data-mature organizations from those just starting their journey.</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CRISP-DM stands for Cross-Industry Standard Process for Data Mining and is one of the most widely adopted frameworks for structuring analytics projects. It provides a clear, repeatable lifecycle that helps teams move systematically from understanding a business problem all the way through to deploying a solution. Critically, CRISP-DM is iterative — teams frequently cycle back to earlier phases as new information emerges. This flexibility is one of the reasons it has remained relevant across decades and across virtually all analytics use cases.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first phase, Business Understanding, is critical because it defines what success looks like before any data work begins. Analysts must clarify project objectives from a business perspective and align them with organizational strategy. Data Understanding follows, involving initial data collection, exploratory analysis, and assessment of quality issues. This phase often reveals surprises that redirect the project. Data Preparation is frequently the most time-consuming phase — it includes cleaning messy data, handling missing values, transforming variables, and integrating data from multiple sources to create the final modeling dataset.</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 the Modeling phase, analysts select and apply appropriate techniques — which may include regression, classification, clustering, or more advanced machine learning methods — and tune parameters to optimize model performance. The Evaluation phase is often underappreciated but is critically important: the model must be assessed against the original business objectives, not just technical metrics like accuracy. A highly accurate model that does not address the business problem should not be deployed. Finally, Deployment integrates the validated model or analytic findings into operational business processes so stakeholders can act on the results — completing the lifecycle and often initiating a new iteration.</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Retailers use analytics to understand purchasing behavior, optimize inventory to reduce overstock and shortages, and personalize shopping experiences at scale — both in-store and online. In healthcare, analytics is used to identify at-risk patients before conditions worsen, reduce unnecessary costs, and improve clinical decision-making. Financial services organizations rely on analytics continuously — banks use predictive models to assess creditworthiness, machine learning algorithms detect fraudulent transactions in real time, and investment firms use data to guide portfolio decisions. Each of these applications delivers measurable business value.</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Supply chain analytics gives organizations visibility across complex logistics networks, helping them identify bottlenecks, reduce costs, and respond quickly to disruptions like supplier delays or demand spikes. Marketing teams use analytics to measure the effectiveness of campaigns, understand the full customer journey across channels, and allocate budgets to the highest-impact activities. In manufacturing, analytics monitors equipment performance in real time, reduces product defects, and enables a shift from reactive maintenance — fixing things after they break — to proactive strategies that prevent failures before they occur. Across all of these domains, analytics converts raw data into actionable, measurable improvements.</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 retail demand forecasting, organizations take historical sales data and apply predictive analytics to anticipate what customers will want, when, and in what quantities. This reduces both excess inventory and costly stockouts. The case study illustrates how descriptive and predictive analytics combine to create real operational value. In healthcare, diagnostic and predictive analytics have been used to flag patients at risk for conditions like sepsis, hospital readmission, or diabetic complications — often before clinical symptoms become apparent. These systems allow clinicians to intervene earlier, improving outcomes and in many cases saving lives. These are not hypothetical scenarios; they represent deployed systems in use today.</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Financial services fraud detection is a classic prescriptive analytics application. Machine learning models analyze thousands of transaction signals in milliseconds, and when fraud is detected, automated systems block the transaction or alert the customer immediately — no human intervention required at the point of decision. In sports, analytics transformed how teams evaluate players and develop strategy — famously illustrated by baseball's Oakland Athletics and the Moneyball story, which brought analytics into mainstream public awareness. E-commerce personalization, pioneered by companies like Amazon, uses customer behavior data to recommend relevant products. Studies have shown that recommendation engines can account for a significant percentage of total revenue, illustrating the direct business impact of applied analytics.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key takeaway from reviewing these case studies is that each one — whether in retail, healthcare, finance, sports, or e-commerce — followed a structured process that mirrors the CRISP-DM framework. Every successful analytics project started with a clearly articulated business problem, moved through data collection and preparation, applied appropriate modeling techniques, evaluated results against business goals, and ultimately deployed a solution integrated into operations. Recognizing this connection reinforces the importance of process discipline in analytics work. Real-world success is not accidental — it follows a repeatable, structured methodology.</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data analytics is the discipline of turning raw data into meaningful insight that drives better decisions. The four types — descriptive, diagnostic, predictive, and prescriptive — form a progressive value chain, each building on the last. The CRISP-DM framework gives practitioners a structured, repeatable process for executing analytics projects from start to finish. Real-world applications across retail, healthcare, finance, supply chain, marketing, and manufacturing demonstrate the tangible value analytics delivers. And the foundational case studies we reviewed show that structured, data-driven approaches consistently produce measurable improvements in efficiency, revenue, and outcomes. As you continue your studies, keep these frameworks in mind — they are the foundation of professional analytics practice.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Data Analytics and the Analytics Lifecycle</a:t>
            </a:r>
          </a:p>
        </p:txBody>
      </p:sp>
      <p:sp>
        <p:nvSpPr>
          <p:cNvPr id="3" name="Content Placeholder 2"/>
          <p:cNvSpPr>
            <a:spLocks noGrp="1"/>
          </p:cNvSpPr>
          <p:nvPr>
            <p:ph idx="1"/>
          </p:nvPr>
        </p:nvSpPr>
        <p:spPr/>
        <p:txBody>
          <a:bodyPr/>
          <a:lstStyle/>
          <a:p>
            <a:pPr algn="ctr">
              <a:buNone/>
            </a:pPr>
            <a:r>
              <a:rPr lang="en-US" dirty="0"/>
              <a:t>Exploring how organizations use data to make smarter, faster, and more confident decisions.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Data Analytics?</a:t>
            </a:r>
          </a:p>
        </p:txBody>
      </p:sp>
      <p:sp>
        <p:nvSpPr>
          <p:cNvPr id="3" name="Content Placeholder 2"/>
          <p:cNvSpPr>
            <a:spLocks noGrp="1"/>
          </p:cNvSpPr>
          <p:nvPr>
            <p:ph idx="1"/>
          </p:nvPr>
        </p:nvSpPr>
        <p:spPr/>
        <p:txBody>
          <a:bodyPr/>
          <a:lstStyle/>
          <a:p>
            <a:r>
              <a:rPr lang="en-US" dirty="0"/>
              <a:t>Process of examining, cleaning, transforming, and modeling data</a:t>
            </a:r>
          </a:p>
          <a:p>
            <a:r>
              <a:rPr lang="en-US" dirty="0"/>
              <a:t>Goal: discover useful information and support decision-making</a:t>
            </a:r>
          </a:p>
          <a:p>
            <a:r>
              <a:rPr lang="en-US" dirty="0"/>
              <a:t>Enables better, faster, and more confident organizational decisions</a:t>
            </a:r>
          </a:p>
          <a:p>
            <a:r>
              <a:rPr lang="en-US" dirty="0"/>
              <a:t>Explosive growth of digital data makes analytics increasingly essential</a:t>
            </a:r>
          </a:p>
          <a:p>
            <a:r>
              <a:rPr lang="en-US" dirty="0"/>
              <a:t>Applied across retail, finance, healthcare, manufacturing, and government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Insights and Competitive Advantage</a:t>
            </a:r>
          </a:p>
        </p:txBody>
      </p:sp>
      <p:sp>
        <p:nvSpPr>
          <p:cNvPr id="3" name="Content Placeholder 2"/>
          <p:cNvSpPr>
            <a:spLocks noGrp="1"/>
          </p:cNvSpPr>
          <p:nvPr>
            <p:ph idx="1"/>
          </p:nvPr>
        </p:nvSpPr>
        <p:spPr/>
        <p:txBody>
          <a:bodyPr/>
          <a:lstStyle/>
          <a:p>
            <a:r>
              <a:rPr lang="en-US" dirty="0"/>
              <a:t>Insights are meaningful patterns and trends uncovered through analysis</a:t>
            </a:r>
          </a:p>
          <a:p>
            <a:r>
              <a:rPr lang="en-US" dirty="0"/>
              <a:t>Organizations act on insights to improve outcomes</a:t>
            </a:r>
          </a:p>
          <a:p>
            <a:r>
              <a:rPr lang="en-US" dirty="0"/>
              <a:t>Analytics helps anticipate market shifts and optimize operations</a:t>
            </a:r>
          </a:p>
          <a:p>
            <a:r>
              <a:rPr lang="en-US" dirty="0"/>
              <a:t>Data-driven companies deliver superior customer experiences</a:t>
            </a:r>
          </a:p>
          <a:p>
            <a:r>
              <a:rPr lang="en-US" dirty="0"/>
              <a:t>Analytics converts data into a strategic competitive advantage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Four Types of Analytics</a:t>
            </a:r>
          </a:p>
        </p:txBody>
      </p:sp>
      <p:sp>
        <p:nvSpPr>
          <p:cNvPr id="3" name="Content Placeholder 2"/>
          <p:cNvSpPr>
            <a:spLocks noGrp="1"/>
          </p:cNvSpPr>
          <p:nvPr>
            <p:ph idx="1"/>
          </p:nvPr>
        </p:nvSpPr>
        <p:spPr/>
        <p:txBody>
          <a:bodyPr/>
          <a:lstStyle/>
          <a:p>
            <a:r>
              <a:rPr lang="en-US" dirty="0"/>
              <a:t>Descriptive: What happened?</a:t>
            </a:r>
          </a:p>
          <a:p>
            <a:r>
              <a:rPr lang="en-US" dirty="0"/>
              <a:t>Diagnostic: Why did it happen?</a:t>
            </a:r>
          </a:p>
          <a:p>
            <a:r>
              <a:rPr lang="en-US" dirty="0"/>
              <a:t>Predictive: What is likely to happen?</a:t>
            </a:r>
          </a:p>
          <a:p>
            <a:r>
              <a:rPr lang="en-US" dirty="0"/>
              <a:t>Prescriptive: What should we do about it?</a:t>
            </a:r>
          </a:p>
          <a:p>
            <a:r>
              <a:rPr lang="en-US" dirty="0"/>
              <a:t>Each type builds on the previous, increasing value and complexity</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and Diagnostic Analytics</a:t>
            </a:r>
          </a:p>
        </p:txBody>
      </p:sp>
      <p:sp>
        <p:nvSpPr>
          <p:cNvPr id="3" name="Content Placeholder 2"/>
          <p:cNvSpPr>
            <a:spLocks noGrp="1"/>
          </p:cNvSpPr>
          <p:nvPr>
            <p:ph idx="1"/>
          </p:nvPr>
        </p:nvSpPr>
        <p:spPr/>
        <p:txBody>
          <a:bodyPr/>
          <a:lstStyle/>
          <a:p>
            <a:r>
              <a:rPr lang="en-US" dirty="0"/>
              <a:t>Descriptive analytics summarizes historical data for clarity</a:t>
            </a:r>
          </a:p>
          <a:p>
            <a:r>
              <a:rPr lang="en-US" dirty="0"/>
              <a:t>Common outputs: dashboards, reports, and summary statistics</a:t>
            </a:r>
          </a:p>
          <a:p>
            <a:r>
              <a:rPr lang="en-US" dirty="0"/>
              <a:t>Diagnostic analytics investigates root causes behind outcomes</a:t>
            </a:r>
          </a:p>
          <a:p>
            <a:r>
              <a:rPr lang="en-US" dirty="0"/>
              <a:t>Uses drill-down analysis, correlations, and data comparisons</a:t>
            </a:r>
          </a:p>
          <a:p>
            <a:r>
              <a:rPr lang="en-US" dirty="0"/>
              <a:t>Answers shift from 'What happened?' to 'Why did it happen?'</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and Prescriptive Analytics</a:t>
            </a:r>
          </a:p>
        </p:txBody>
      </p:sp>
      <p:sp>
        <p:nvSpPr>
          <p:cNvPr id="3" name="Content Placeholder 2"/>
          <p:cNvSpPr>
            <a:spLocks noGrp="1"/>
          </p:cNvSpPr>
          <p:nvPr>
            <p:ph idx="1"/>
          </p:nvPr>
        </p:nvSpPr>
        <p:spPr/>
        <p:txBody>
          <a:bodyPr/>
          <a:lstStyle/>
          <a:p>
            <a:r>
              <a:rPr lang="en-US" dirty="0"/>
              <a:t>Predictive analytics uses statistical models and machine learning</a:t>
            </a:r>
          </a:p>
          <a:p>
            <a:r>
              <a:rPr lang="en-US" dirty="0"/>
              <a:t>Forecasts future outcomes based on historical patterns</a:t>
            </a:r>
          </a:p>
          <a:p>
            <a:r>
              <a:rPr lang="en-US" dirty="0"/>
              <a:t>Prescriptive analytics combines predictions with optimization</a:t>
            </a:r>
          </a:p>
          <a:p>
            <a:r>
              <a:rPr lang="en-US" dirty="0"/>
              <a:t>Recommends specific actions to achieve desired outcomes</a:t>
            </a:r>
          </a:p>
          <a:p>
            <a:r>
              <a:rPr lang="en-US" dirty="0"/>
              <a:t>Most advanced type — highest value and highest complexity</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CRISP-DM Framework</a:t>
            </a:r>
          </a:p>
        </p:txBody>
      </p:sp>
      <p:sp>
        <p:nvSpPr>
          <p:cNvPr id="3" name="Content Placeholder 2"/>
          <p:cNvSpPr>
            <a:spLocks noGrp="1"/>
          </p:cNvSpPr>
          <p:nvPr>
            <p:ph idx="1"/>
          </p:nvPr>
        </p:nvSpPr>
        <p:spPr/>
        <p:txBody>
          <a:bodyPr/>
          <a:lstStyle/>
          <a:p>
            <a:r>
              <a:rPr lang="en-US" dirty="0"/>
              <a:t>Cross-Industry Standard Process for Data Mining</a:t>
            </a:r>
          </a:p>
          <a:p>
            <a:r>
              <a:rPr lang="en-US" dirty="0"/>
              <a:t>Structured, repeatable lifecycle for analytics projects</a:t>
            </a:r>
          </a:p>
          <a:p>
            <a:r>
              <a:rPr lang="en-US" dirty="0"/>
              <a:t>Six phases guide projects from business problem to deployment</a:t>
            </a:r>
          </a:p>
          <a:p>
            <a:r>
              <a:rPr lang="en-US" dirty="0"/>
              <a:t>Framework is iterative — phases revisited as needed</a:t>
            </a:r>
          </a:p>
          <a:p>
            <a:r>
              <a:rPr lang="en-US" dirty="0"/>
              <a:t>Widely adopted across industries and analytics disciplines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CRISP-DM: Phases 1–3</a:t>
            </a:r>
          </a:p>
        </p:txBody>
      </p:sp>
      <p:sp>
        <p:nvSpPr>
          <p:cNvPr id="3" name="Content Placeholder 2"/>
          <p:cNvSpPr>
            <a:spLocks noGrp="1"/>
          </p:cNvSpPr>
          <p:nvPr>
            <p:ph idx="1"/>
          </p:nvPr>
        </p:nvSpPr>
        <p:spPr/>
        <p:txBody>
          <a:bodyPr/>
          <a:lstStyle/>
          <a:p>
            <a:r>
              <a:rPr lang="en-US" dirty="0"/>
              <a:t>Phase 1 — Business Understanding: define objectives and requirements</a:t>
            </a:r>
          </a:p>
          <a:p>
            <a:r>
              <a:rPr lang="en-US" dirty="0"/>
              <a:t>Align analytics goals with organizational strategy</a:t>
            </a:r>
          </a:p>
          <a:p>
            <a:r>
              <a:rPr lang="en-US" dirty="0"/>
              <a:t>Phase 2 — Data Understanding: collect, explore, and assess data</a:t>
            </a:r>
          </a:p>
          <a:p>
            <a:r>
              <a:rPr lang="en-US" dirty="0"/>
              <a:t>Identify data quality issues and interesting early patterns</a:t>
            </a:r>
          </a:p>
          <a:p>
            <a:r>
              <a:rPr lang="en-US" dirty="0"/>
              <a:t>Phase 3 — Data Preparation: clean, transform, and integrate data</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CRISP-DM: Phases 4–6</a:t>
            </a:r>
          </a:p>
        </p:txBody>
      </p:sp>
      <p:sp>
        <p:nvSpPr>
          <p:cNvPr id="3" name="Content Placeholder 2"/>
          <p:cNvSpPr>
            <a:spLocks noGrp="1"/>
          </p:cNvSpPr>
          <p:nvPr>
            <p:ph idx="1"/>
          </p:nvPr>
        </p:nvSpPr>
        <p:spPr/>
        <p:txBody>
          <a:bodyPr/>
          <a:lstStyle/>
          <a:p>
            <a:r>
              <a:rPr lang="en-US" dirty="0"/>
              <a:t>Phase 4 — Modeling: apply and calibrate analytical techniques</a:t>
            </a:r>
          </a:p>
          <a:p>
            <a:r>
              <a:rPr lang="en-US" dirty="0"/>
              <a:t>Select machine learning or statistical models appropriate to the problem</a:t>
            </a:r>
          </a:p>
          <a:p>
            <a:r>
              <a:rPr lang="en-US" dirty="0"/>
              <a:t>Phase 5 — Evaluation: assess model against business objectives</a:t>
            </a:r>
          </a:p>
          <a:p>
            <a:r>
              <a:rPr lang="en-US" dirty="0"/>
              <a:t>Technical performance alone is insufficient for deployment approval</a:t>
            </a:r>
          </a:p>
          <a:p>
            <a:r>
              <a:rPr lang="en-US" dirty="0"/>
              <a:t>Phase 6 — Deployment: integrate findings into business processes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Analytics in Retail, Healthcare, and Finance</a:t>
            </a:r>
          </a:p>
        </p:txBody>
      </p:sp>
      <p:sp>
        <p:nvSpPr>
          <p:cNvPr id="3" name="Content Placeholder 2"/>
          <p:cNvSpPr>
            <a:spLocks noGrp="1"/>
          </p:cNvSpPr>
          <p:nvPr>
            <p:ph idx="1"/>
          </p:nvPr>
        </p:nvSpPr>
        <p:spPr/>
        <p:txBody>
          <a:bodyPr/>
          <a:lstStyle/>
          <a:p>
            <a:r>
              <a:rPr lang="en-US" dirty="0"/>
              <a:t>Retail: personalize experiences, manage inventory, forecast demand</a:t>
            </a:r>
          </a:p>
          <a:p>
            <a:r>
              <a:rPr lang="en-US" dirty="0"/>
              <a:t>E-commerce analytics drives customer behavior understanding</a:t>
            </a:r>
          </a:p>
          <a:p>
            <a:r>
              <a:rPr lang="en-US" dirty="0"/>
              <a:t>Healthcare: predict disease risk and improve patient outcomes</a:t>
            </a:r>
          </a:p>
          <a:p>
            <a:r>
              <a:rPr lang="en-US" dirty="0"/>
              <a:t>Finance: assess credit risk, detect fraud, guide investments</a:t>
            </a:r>
          </a:p>
          <a:p>
            <a:r>
              <a:rPr lang="en-US" dirty="0"/>
              <a:t>Real-time analytics enables immediate financial decision-making</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Analytics in Supply Chain, Marketing, and Manufacturing</a:t>
            </a:r>
          </a:p>
        </p:txBody>
      </p:sp>
      <p:sp>
        <p:nvSpPr>
          <p:cNvPr id="3" name="Content Placeholder 2"/>
          <p:cNvSpPr>
            <a:spLocks noGrp="1"/>
          </p:cNvSpPr>
          <p:nvPr>
            <p:ph idx="1"/>
          </p:nvPr>
        </p:nvSpPr>
        <p:spPr/>
        <p:txBody>
          <a:bodyPr/>
          <a:lstStyle/>
          <a:p>
            <a:r>
              <a:rPr lang="en-US" dirty="0"/>
              <a:t>Supply chain: improve visibility and reduce operational costs</a:t>
            </a:r>
          </a:p>
          <a:p>
            <a:r>
              <a:rPr lang="en-US" dirty="0"/>
              <a:t>Analytics enables faster response to logistics disruptions</a:t>
            </a:r>
          </a:p>
          <a:p>
            <a:r>
              <a:rPr lang="en-US" dirty="0"/>
              <a:t>Marketing: measure campaigns and optimize budget allocation</a:t>
            </a:r>
          </a:p>
          <a:p>
            <a:r>
              <a:rPr lang="en-US" dirty="0"/>
              <a:t>Customer journey analytics improves targeting and retention</a:t>
            </a:r>
          </a:p>
          <a:p>
            <a:r>
              <a:rPr lang="en-US" dirty="0"/>
              <a:t>Manufacturing: monitor equipment and shift to proactive maintenance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 Retail and Healthcare</a:t>
            </a:r>
          </a:p>
        </p:txBody>
      </p:sp>
      <p:sp>
        <p:nvSpPr>
          <p:cNvPr id="3" name="Content Placeholder 2"/>
          <p:cNvSpPr>
            <a:spLocks noGrp="1"/>
          </p:cNvSpPr>
          <p:nvPr>
            <p:ph idx="1"/>
          </p:nvPr>
        </p:nvSpPr>
        <p:spPr/>
        <p:txBody>
          <a:bodyPr/>
          <a:lstStyle/>
          <a:p>
            <a:r>
              <a:rPr lang="en-US" dirty="0"/>
              <a:t>Retailers use historical sales data to forecast demand accurately</a:t>
            </a:r>
          </a:p>
          <a:p>
            <a:r>
              <a:rPr lang="en-US" dirty="0"/>
              <a:t>Predictive analytics reduces waste and prevents stockouts</a:t>
            </a:r>
          </a:p>
          <a:p>
            <a:r>
              <a:rPr lang="en-US" dirty="0"/>
              <a:t>Healthcare applies diagnostic analytics to identify at-risk patients</a:t>
            </a:r>
          </a:p>
          <a:p>
            <a:r>
              <a:rPr lang="en-US" dirty="0"/>
              <a:t>Predictive models improve clinical outcomes before symptoms worsen</a:t>
            </a:r>
          </a:p>
          <a:p>
            <a:r>
              <a:rPr lang="en-US" dirty="0"/>
              <a:t>Data-driven healthcare decisions can be life-saving</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 Finance, Sports, and E-Commerce</a:t>
            </a:r>
          </a:p>
        </p:txBody>
      </p:sp>
      <p:sp>
        <p:nvSpPr>
          <p:cNvPr id="3" name="Content Placeholder 2"/>
          <p:cNvSpPr>
            <a:spLocks noGrp="1"/>
          </p:cNvSpPr>
          <p:nvPr>
            <p:ph idx="1"/>
          </p:nvPr>
        </p:nvSpPr>
        <p:spPr/>
        <p:txBody>
          <a:bodyPr/>
          <a:lstStyle/>
          <a:p>
            <a:r>
              <a:rPr lang="en-US" dirty="0"/>
              <a:t>Banks use real-time analytics to detect fraudulent transactions</a:t>
            </a:r>
          </a:p>
          <a:p>
            <a:r>
              <a:rPr lang="en-US" dirty="0"/>
              <a:t>Prescriptive systems automate immediate fraud response decisions</a:t>
            </a:r>
          </a:p>
          <a:p>
            <a:r>
              <a:rPr lang="en-US" dirty="0"/>
              <a:t>Sports teams use analytics for player evaluation and game strategy</a:t>
            </a:r>
          </a:p>
          <a:p>
            <a:r>
              <a:rPr lang="en-US" dirty="0"/>
              <a:t>Analytics made mainstream through sports storytelling like Moneyball</a:t>
            </a:r>
          </a:p>
          <a:p>
            <a:r>
              <a:rPr lang="en-US" dirty="0"/>
              <a:t>Amazon's recommendation engine drives significant revenue through personalization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Connecting Case Studies to the Analytics Lifecycle</a:t>
            </a:r>
          </a:p>
        </p:txBody>
      </p:sp>
      <p:sp>
        <p:nvSpPr>
          <p:cNvPr id="3" name="Content Placeholder 2"/>
          <p:cNvSpPr>
            <a:spLocks noGrp="1"/>
          </p:cNvSpPr>
          <p:nvPr>
            <p:ph idx="1"/>
          </p:nvPr>
        </p:nvSpPr>
        <p:spPr/>
        <p:txBody>
          <a:bodyPr/>
          <a:lstStyle/>
          <a:p>
            <a:r>
              <a:rPr lang="en-US" dirty="0"/>
              <a:t>Every case study reflects the CRISP-DM lifecycle in practice</a:t>
            </a:r>
          </a:p>
          <a:p>
            <a:r>
              <a:rPr lang="en-US" dirty="0"/>
              <a:t>Each begins with a clearly defined business problem</a:t>
            </a:r>
          </a:p>
          <a:p>
            <a:r>
              <a:rPr lang="en-US" dirty="0"/>
              <a:t>Data is collected, prepared, and modeled systematically</a:t>
            </a:r>
          </a:p>
          <a:p>
            <a:r>
              <a:rPr lang="en-US" dirty="0"/>
              <a:t>Solutions are evaluated against real business objectives</a:t>
            </a:r>
          </a:p>
          <a:p>
            <a:r>
              <a:rPr lang="en-US" dirty="0"/>
              <a:t>Deployed models are monitored and continuously improved</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Data analytics transforms raw data into actionable business insight</a:t>
            </a:r>
          </a:p>
          <a:p>
            <a:r>
              <a:rPr lang="en-US" dirty="0"/>
              <a:t>Four types form a spectrum from descriptive to prescriptive</a:t>
            </a:r>
          </a:p>
          <a:p>
            <a:r>
              <a:rPr lang="en-US" dirty="0"/>
              <a:t>CRISP-DM provides a structured, iterative project lifecycle</a:t>
            </a:r>
          </a:p>
          <a:p>
            <a:r>
              <a:rPr lang="en-US" dirty="0"/>
              <a:t>Analytics delivers measurable value across every major industry</a:t>
            </a:r>
          </a:p>
          <a:p>
            <a:r>
              <a:rPr lang="en-US" dirty="0"/>
              <a:t>Case studies connect theory to real outcomes and business impact</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Introduction to Data Analytics and the Analytics Lifecycle</dc:title>
  <dc:creator>PreseMaker</dc:creator>
  <cp:lastModifiedBy>PreseMaker</cp:lastModifiedBy>
  <dcterms:created xsi:type="dcterms:W3CDTF">2026-07-03T17:51:13Z</dcterms:created>
  <dcterms:modified xsi:type="dcterms:W3CDTF">2026-07-03T17:51:13Z</dcterms:modified>
</cp:coreProperties>
</file>
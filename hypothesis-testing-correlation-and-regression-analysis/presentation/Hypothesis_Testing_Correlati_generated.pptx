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everyone. This presentation covers the foundational and applied concepts of inferential statistics — from forming hypotheses and interpreting p-values, to running A/B tests, measuring correlation, and building regression models. By the end, you will be equipped to select appropriate methods, validate assumptions, and communicate findings clearly.</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Statistical inference allows us to make generalizations without measuring an entire population. The null hypothesis represents the status quo — no effect or no difference — while the alternative captures what we are trying to demonstrate. The test statistic quantifies how far our sample result deviates from what H₀ predicts. We reject H₀ using the logic of contradiction: if the data are extremely unlikely under H₀, we have evidence against it. Crucially, because we rely on probability, we can never be certain — Type I errors occur when we wrongly reject a true H₀, and Type II errors occur when we fail to detect a real effect. A well-structured hypothesis test follows a consistent sequence: state hypotheses, choose a significance level, collect data, compute the test statistic, and reach a decision.</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p-value answers: 'How often would I see data this extreme if H₀ were true?' A common alpha is 0.05, but it should be set before data collection. Type I error rate equals alpha — lowering alpha reduces false positives but increases false negatives (Type II errors). P-values are widely misunderstood: they do not represent the probability that H₀ is true, nor do they confirm practical significance. To calculate a p-value, you compute a test statistic from sample data and find the tail probability under the null distribution. Always accompany p-values with effect sizes and confidence intervals to provide a complete picture. Reporting significance without context can mislead stakeholders and inflate the importance of trivial findings.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A/B testing is hypothesis testing applied in business and product contexts. Version A is the control — the current state — and version B is the treatment being evaluated. Valid experimental design begins before data collection: define what you are measuring, set the null hypothesis (no difference between A and B), determine minimum detectable effect, and compute required sample size to achieve sufficient power (typically 80%). Random assignment is non-negotiable — it ensures that differences between groups reflect the treatment and not pre-existing differences. The appropriate statistical test depends on the metric: a two-sample t-test for continuous metrics like revenue, and a z-test or chi-square test for proportions like conversion rates.</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the test concludes, the p-value tells us how likely we are to see this difference if there is truly no effect. Comparing it to alpha guides the reject-or-retain decision. However, a statistically significant result with a negligible effect size may not justify deploying version B. Effect size metrics like Cohen's d or percentage lift provide practical context. Common pitfalls include peeking (stopping early when results look good, inflating false-positive rates), using multiple metrics without correction, and ignoring novelty effects. The final step is translating numbers into a recommendation: frame the finding in terms of the business impact, acknowledge uncertainty, and suggest next steps. Confidence intervals are valuable here for communicating the range of plausible effects.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Correlation is one of the most commonly reported statistics in data analysis. The Pearson correlation coefficient r measures the linear relationship between two continuous variables and assumes approximate normality. Spearman's rho converts raw values to ranks before computing the correlation, making it robust to outliers and appropriate for ordinal data or non-linear monotonic relationships. Choosing between them depends on data type, distribution shape, and the presence of outliers — when in doubt, check both. A coefficient near 0 suggests little to no linear relationship; values near ±1 indicate strong relationships. Always visualize the data with a scatter plot, since the same r can represent very different patterns (Anscombe's Quartet). Coefficients must be interpreted within their domain context — a correlation of 0.3 might be meaningful in social science but negligible in engineering.</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is one of the most critical principles in statistics. Two variables can move together — ice cream sales and drowning rates both rise in summer — but neither causes the other; a confounding variable (warm weather and increased outdoor activity) explains both. Spurious correlations arise from coincidence, data dredging, or shared underlying causes. To establish causation, researchers use randomized controlled experiments, natural experiments, or causal inference frameworks like instrumental variables and difference-in-differences. In practice, always scrutinize a correlation by asking what other variables might explain it, whether the direction of causality is clear, and whether there is a plausible mechanism linking the two variables.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Simple linear regression expresses the outcome Y as a linear function of one predictor X: Y = β₀ + β₁X + ε. Ordinary Least Squares (OLS) finds the values of β₀ and β₁ that minimize the total squared difference between observed and predicted values. The slope β₁ tells us how much Y changes for a one-unit increase in X, and the intercept β₀ is the predicted value of Y when X equals zero. R² (coefficient of determination) ranges from 0 to 1 and indicates how much variability in Y the model explains — higher values suggest better fit, but context matters. To test whether the relationship is statistically real, we run a t-test on β₁ under the null hypothesis that β₁ = 0. Before using the model for prediction, verify that regression assumptions hold: linearity, independence of errors, homoscedasticity, and normality of residuals.</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Regression assumptions are not optional — violating them can render coefficients and p-values unreliable. Linearity is checked with scatter plots and residual-vs-fitted plots. Independence is especially important in time-series data; the Durbin-Watson test can detect autocorrelation. Homoscedasticity is assessed with a scale-location plot — a fan-shaped pattern indicates heteroscedasticity, which can be corrected with robust standard errors or data transformations. Normality of residuals is verified with a Q-Q plot or Shapiro-Wilk test, though this assumption becomes less critical with large samples due to the Central Limit Theorem. Once fitted, the model can be used to predict Y for new X values, with confidence and prediction intervals quantifying uncertainty around those predictions.</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Multiple linear regression is expressed as Y = β₀ + β₁X₁ + β₂X₂ + ... + βₖXₖ + ε. The key interpretive principle is ceteris paribus — each coefficient describes the change in Y for a one-unit increase in that predictor while all other predictors are held constant. Unlike simple R², adjusted R² accounts for the number of predictors and penalizes unnecessary complexity. The F-test evaluates whether at least one predictor significantly explains variance in Y. Multicollinearity — high correlation among predictors — makes individual coefficient estimates unstable without necessarily harming predictions. Detect it using the Variance Inflation Factor (VIF); values above 5–10 signal concern. The same assumptions from simple regression apply, plus the absence of severe multicollinearity. All assumptions should be verified before interpreting results.</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Model building is iterative. Variable selection methods help identify the most informative subset of predictors — forward selection starts with no predictors and adds them one at a time, while backward elimination starts with all predictors and removes the least significant. Information criteria like AIC and BIC can guide this process. Log transformations, square roots, and polynomial terms can address non-linearity or heteroscedasticity. When multicollinearity is severe, consider removing one of the correlated predictors, combining them into an index, or applying ridge regression. Cross-validation — splitting data into training and test sets — assesses whether the model generalizes beyond the sample used to fit it. The goal is a model that is both statistically sound and practically interpretable.</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Choosing the right method starts with the research question: Are you comparing groups? Use a t-test or z-test. Testing association? Use correlation. Predicting an outcome? Use regression. Each method rests on assumptions — checking them is not optional; it determines whether your results are trustworthy. A p-value alone is insufficient for a complete conclusion; always accompany it with an effect size (Cohen's d, R², percentage change) and a confidence interval. When translating regression coefficients, say 'for each additional year of experience, salary increases by approximately $3,000, holding other factors constant' rather than quoting numbers without context. In A/B testing contexts, frame results in terms of business impact: 'Version B increased conversion rate by 2.4 percentage points, which is statistically significant at α = 0.05 and represents an estimated $120,000 in annual additional revenue.' Real datasets also require data cleaning and exploratory analysis before formal inference.</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Effective communication is as important as the analysis itself. When presenting to executives or non-technical stakeholders, lead with the decision or recommendation, then provide supporting evidence. Avoid jargon — instead of 'the coefficient was statistically significant at p = 0.03,' say 'we are confident this effect is real and not due to chance.' Visualizations such as scatter plots, confidence interval plots, and bar charts make findings tangible. Always acknowledge what the analysis cannot tell us — confounding, sample limitations, or generalizability constraints. A common framework: state the business question, describe what was measured and how, present the key finding with uncertainty, and conclude with a recommended action. Honest, clear communication builds trust and enables better decisions.</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 practice, applying inferential statistics is a workflow, not a single step. Real datasets are messy — missing values, outliers, and skewed distributions must be addressed before formal testing. Exploratory data analysis (EDA) using histograms, box plots, and scatter plots reveals patterns and informs method selection. In A/B testing contexts, ensure randomization was properly implemented and that the test ran for the predetermined duration. For observational data, regression and correlation can reveal meaningful structure while controlling for confounders. Document all preprocessing steps, analytical choices, and assumption checks so that results are transparent and reproducible. Open-source tools like Python (statsmodels, scipy) and R make it straightforward to implement and document the full inferential pipeline.</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statistical inference gives us tools to draw reliable conclusions from sample data. Hypothesis testing, anchored by p-values and significance thresholds, must account for both Type I and Type II errors. A/B testing operationalizes this framework in business settings, with careful design and interpretation being essential. Correlation quantifies the strength of association between variables, but causal claims require additional evidence. Simple and multiple linear regression model the relationship between predictors and outcomes, with OLS estimation, R², and assumption checking forming the core workflow. Finally, drawing data-driven conclusions requires not just technical skill but the ability to validate assumptions, interpret results in context, and communicate findings clearly and honestly to drive action. These skills are foundational for any data analyst, scientist, or decision-maker working with quantitative information.</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Hypothesis Testing, Correlation, and Regression Analysis</a:t>
            </a:r>
          </a:p>
        </p:txBody>
      </p:sp>
      <p:sp>
        <p:nvSpPr>
          <p:cNvPr id="3" name="Content Placeholder 2"/>
          <p:cNvSpPr>
            <a:spLocks noGrp="1"/>
          </p:cNvSpPr>
          <p:nvPr>
            <p:ph idx="1"/>
          </p:nvPr>
        </p:nvSpPr>
        <p:spPr/>
        <p:txBody>
          <a:bodyPr/>
          <a:lstStyle/>
          <a:p>
            <a:pPr algn="ctr">
              <a:buNone/>
            </a:pPr>
            <a:r>
              <a:rPr lang="en-US" dirty="0"/>
              <a:t>A professional guide to inferential statistics, experimental design, and data-driven decision-making for college students.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Foundations of Hypothesis Testing</a:t>
            </a:r>
          </a:p>
        </p:txBody>
      </p:sp>
      <p:sp>
        <p:nvSpPr>
          <p:cNvPr id="3" name="Content Placeholder 2"/>
          <p:cNvSpPr>
            <a:spLocks noGrp="1"/>
          </p:cNvSpPr>
          <p:nvPr>
            <p:ph idx="1"/>
          </p:nvPr>
        </p:nvSpPr>
        <p:spPr/>
        <p:txBody>
          <a:bodyPr/>
          <a:lstStyle/>
          <a:p>
            <a:r>
              <a:rPr lang="en-US" dirty="0"/>
              <a:t>Statistical inference draws conclusions about populations from sample data.</a:t>
            </a:r>
          </a:p>
          <a:p>
            <a:r>
              <a:rPr lang="en-US" dirty="0"/>
              <a:t>Every test begins with a null (H₀) and alternative (H₁) hypothesis.</a:t>
            </a:r>
          </a:p>
          <a:p>
            <a:r>
              <a:rPr lang="en-US" dirty="0"/>
              <a:t>A test statistic measures distance between observed data and H₀.</a:t>
            </a:r>
          </a:p>
          <a:p>
            <a:r>
              <a:rPr lang="en-US" dirty="0"/>
              <a:t>Reject H₀ when data would be very unlikely under H₀.</a:t>
            </a:r>
          </a:p>
          <a:p>
            <a:r>
              <a:rPr lang="en-US" dirty="0"/>
              <a:t>Errors are unavoidable: Type I (false positive) and Type II (false negative).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P-Values and Statistical Significance</a:t>
            </a:r>
          </a:p>
        </p:txBody>
      </p:sp>
      <p:sp>
        <p:nvSpPr>
          <p:cNvPr id="3" name="Content Placeholder 2"/>
          <p:cNvSpPr>
            <a:spLocks noGrp="1"/>
          </p:cNvSpPr>
          <p:nvPr>
            <p:ph idx="1"/>
          </p:nvPr>
        </p:nvSpPr>
        <p:spPr/>
        <p:txBody>
          <a:bodyPr/>
          <a:lstStyle/>
          <a:p>
            <a:r>
              <a:rPr lang="en-US" dirty="0"/>
              <a:t>A p-value is the probability of results as extreme as observed, given H₀.</a:t>
            </a:r>
          </a:p>
          <a:p>
            <a:r>
              <a:rPr lang="en-US" dirty="0"/>
              <a:t>Alpha (α) is the pre-defined threshold for rejecting H₀.</a:t>
            </a:r>
          </a:p>
          <a:p>
            <a:r>
              <a:rPr lang="en-US" dirty="0"/>
              <a:t>p ≤ α → reject H₀; p &gt; α → retain H₀.</a:t>
            </a:r>
          </a:p>
          <a:p>
            <a:r>
              <a:rPr lang="en-US" dirty="0"/>
              <a:t>P-values do NOT measure effect size or practical importance.</a:t>
            </a:r>
          </a:p>
          <a:p>
            <a:r>
              <a:rPr lang="en-US" dirty="0"/>
              <a:t>Report effect sizes and confidence intervals alongside p-values.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 Testing: Concepts and Design</a:t>
            </a:r>
          </a:p>
        </p:txBody>
      </p:sp>
      <p:sp>
        <p:nvSpPr>
          <p:cNvPr id="3" name="Content Placeholder 2"/>
          <p:cNvSpPr>
            <a:spLocks noGrp="1"/>
          </p:cNvSpPr>
          <p:nvPr>
            <p:ph idx="1"/>
          </p:nvPr>
        </p:nvSpPr>
        <p:spPr/>
        <p:txBody>
          <a:bodyPr/>
          <a:lstStyle/>
          <a:p>
            <a:r>
              <a:rPr lang="en-US" dirty="0"/>
              <a:t>A/B testing compares a control (A) and treatment (B) on a defined metric.</a:t>
            </a:r>
          </a:p>
          <a:p>
            <a:r>
              <a:rPr lang="en-US" dirty="0"/>
              <a:t>Define the hypothesis and success metric before launching the test.</a:t>
            </a:r>
          </a:p>
          <a:p>
            <a:r>
              <a:rPr lang="en-US" dirty="0"/>
              <a:t>Randomly assign users to groups to eliminate selection bias.</a:t>
            </a:r>
          </a:p>
          <a:p>
            <a:r>
              <a:rPr lang="en-US" dirty="0"/>
              <a:t>Calculate required sample size to achieve adequate statistical power.</a:t>
            </a:r>
          </a:p>
          <a:p>
            <a:r>
              <a:rPr lang="en-US" dirty="0"/>
              <a:t>Choose the statistical test based on metric type and data distribution.</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A/B Test Results</a:t>
            </a:r>
          </a:p>
        </p:txBody>
      </p:sp>
      <p:sp>
        <p:nvSpPr>
          <p:cNvPr id="3" name="Content Placeholder 2"/>
          <p:cNvSpPr>
            <a:spLocks noGrp="1"/>
          </p:cNvSpPr>
          <p:nvPr>
            <p:ph idx="1"/>
          </p:nvPr>
        </p:nvSpPr>
        <p:spPr/>
        <p:txBody>
          <a:bodyPr/>
          <a:lstStyle/>
          <a:p>
            <a:r>
              <a:rPr lang="en-US" dirty="0"/>
              <a:t>Compare the p-value to alpha to assess statistical significance.</a:t>
            </a:r>
          </a:p>
          <a:p>
            <a:r>
              <a:rPr lang="en-US" dirty="0"/>
              <a:t>Effect size quantifies the magnitude of the difference between groups.</a:t>
            </a:r>
          </a:p>
          <a:p>
            <a:r>
              <a:rPr lang="en-US" dirty="0"/>
              <a:t>Statistical significance does not guarantee business relevance.</a:t>
            </a:r>
          </a:p>
          <a:p>
            <a:r>
              <a:rPr lang="en-US" dirty="0"/>
              <a:t>Avoid peeking at results before the predetermined sample size is reached.</a:t>
            </a:r>
          </a:p>
          <a:p>
            <a:r>
              <a:rPr lang="en-US" dirty="0"/>
              <a:t>Translate findings into a clear recommendation for stakeholders.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Correlation Analysis</a:t>
            </a:r>
          </a:p>
        </p:txBody>
      </p:sp>
      <p:sp>
        <p:nvSpPr>
          <p:cNvPr id="3" name="Content Placeholder 2"/>
          <p:cNvSpPr>
            <a:spLocks noGrp="1"/>
          </p:cNvSpPr>
          <p:nvPr>
            <p:ph idx="1"/>
          </p:nvPr>
        </p:nvSpPr>
        <p:spPr/>
        <p:txBody>
          <a:bodyPr/>
          <a:lstStyle/>
          <a:p>
            <a:r>
              <a:rPr lang="en-US" dirty="0"/>
              <a:t>Correlation quantifies the strength and direction of a relationship between two variables.</a:t>
            </a:r>
          </a:p>
          <a:p>
            <a:r>
              <a:rPr lang="en-US" dirty="0"/>
              <a:t>Pearson's r measures linear correlation for continuous, normally distributed data.</a:t>
            </a:r>
          </a:p>
          <a:p>
            <a:r>
              <a:rPr lang="en-US" dirty="0"/>
              <a:t>Spearman's ρ is a non-parametric alternative based on ranked values.</a:t>
            </a:r>
          </a:p>
          <a:p>
            <a:r>
              <a:rPr lang="en-US" dirty="0"/>
              <a:t>Use Spearman when data are ordinal, skewed, or contain outliers.</a:t>
            </a:r>
          </a:p>
          <a:p>
            <a:r>
              <a:rPr lang="en-US" dirty="0"/>
              <a:t>Correlation coefficients range from −1 (perfect negative) to +1 (perfect positive).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Correlation Does Not Imply Causation</a:t>
            </a:r>
          </a:p>
        </p:txBody>
      </p:sp>
      <p:sp>
        <p:nvSpPr>
          <p:cNvPr id="3" name="Content Placeholder 2"/>
          <p:cNvSpPr>
            <a:spLocks noGrp="1"/>
          </p:cNvSpPr>
          <p:nvPr>
            <p:ph idx="1"/>
          </p:nvPr>
        </p:nvSpPr>
        <p:spPr/>
        <p:txBody>
          <a:bodyPr/>
          <a:lstStyle/>
          <a:p>
            <a:r>
              <a:rPr lang="en-US" dirty="0"/>
              <a:t>A correlation shows association, not a cause-and-effect relationship.</a:t>
            </a:r>
          </a:p>
          <a:p>
            <a:r>
              <a:rPr lang="en-US" dirty="0"/>
              <a:t>Confounding variables can create spurious correlations between unrelated outcomes.</a:t>
            </a:r>
          </a:p>
          <a:p>
            <a:r>
              <a:rPr lang="en-US" dirty="0"/>
              <a:t>Establishing causation requires controlled experiments or causal inference methods.</a:t>
            </a:r>
          </a:p>
          <a:p>
            <a:r>
              <a:rPr lang="en-US" dirty="0"/>
              <a:t>Always ask: could a third variable explain this relationship?</a:t>
            </a:r>
          </a:p>
          <a:p>
            <a:r>
              <a:rPr lang="en-US" dirty="0"/>
              <a:t>Interpret correlations within the domain and research question.</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Linear Regression</a:t>
            </a:r>
          </a:p>
        </p:txBody>
      </p:sp>
      <p:sp>
        <p:nvSpPr>
          <p:cNvPr id="3" name="Content Placeholder 2"/>
          <p:cNvSpPr>
            <a:spLocks noGrp="1"/>
          </p:cNvSpPr>
          <p:nvPr>
            <p:ph idx="1"/>
          </p:nvPr>
        </p:nvSpPr>
        <p:spPr/>
        <p:txBody>
          <a:bodyPr/>
          <a:lstStyle/>
          <a:p>
            <a:r>
              <a:rPr lang="en-US" dirty="0"/>
              <a:t>Models the linear relationship between one predictor and one outcome variable.</a:t>
            </a:r>
          </a:p>
          <a:p>
            <a:r>
              <a:rPr lang="en-US" dirty="0"/>
              <a:t>OLS estimates coefficients by minimizing the sum of squared residuals.</a:t>
            </a:r>
          </a:p>
          <a:p>
            <a:r>
              <a:rPr lang="en-US" dirty="0"/>
              <a:t>β₀ is the intercept; β₁ is the slope for the predictor variable.</a:t>
            </a:r>
          </a:p>
          <a:p>
            <a:r>
              <a:rPr lang="en-US" dirty="0"/>
              <a:t>R² measures the proportion of outcome variance explained by the model.</a:t>
            </a:r>
          </a:p>
          <a:p>
            <a:r>
              <a:rPr lang="en-US" dirty="0"/>
              <a:t>A t-test on β₁ determines if the predictor is statistically significant.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Checking Regression Assumptions</a:t>
            </a:r>
          </a:p>
        </p:txBody>
      </p:sp>
      <p:sp>
        <p:nvSpPr>
          <p:cNvPr id="3" name="Content Placeholder 2"/>
          <p:cNvSpPr>
            <a:spLocks noGrp="1"/>
          </p:cNvSpPr>
          <p:nvPr>
            <p:ph idx="1"/>
          </p:nvPr>
        </p:nvSpPr>
        <p:spPr/>
        <p:txBody>
          <a:bodyPr/>
          <a:lstStyle/>
          <a:p>
            <a:r>
              <a:rPr lang="en-US" dirty="0"/>
              <a:t>Linearity: the relationship between X and Y must be linear.</a:t>
            </a:r>
          </a:p>
          <a:p>
            <a:r>
              <a:rPr lang="en-US" dirty="0"/>
              <a:t>Independence: residuals should not be correlated with each other.</a:t>
            </a:r>
          </a:p>
          <a:p>
            <a:r>
              <a:rPr lang="en-US" dirty="0"/>
              <a:t>Homoscedasticity: residuals should have constant variance across fitted values.</a:t>
            </a:r>
          </a:p>
          <a:p>
            <a:r>
              <a:rPr lang="en-US" dirty="0"/>
              <a:t>Normality: residuals should be approximately normally distributed.</a:t>
            </a:r>
          </a:p>
          <a:p>
            <a:r>
              <a:rPr lang="en-US" dirty="0"/>
              <a:t>Violations can bias estimates and invalidate hypothesis tests.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Linear Regression</a:t>
            </a:r>
          </a:p>
        </p:txBody>
      </p:sp>
      <p:sp>
        <p:nvSpPr>
          <p:cNvPr id="3" name="Content Placeholder 2"/>
          <p:cNvSpPr>
            <a:spLocks noGrp="1"/>
          </p:cNvSpPr>
          <p:nvPr>
            <p:ph idx="1"/>
          </p:nvPr>
        </p:nvSpPr>
        <p:spPr/>
        <p:txBody>
          <a:bodyPr/>
          <a:lstStyle/>
          <a:p>
            <a:r>
              <a:rPr lang="en-US" dirty="0"/>
              <a:t>Extends simple regression by adding two or more predictor variables.</a:t>
            </a:r>
          </a:p>
          <a:p>
            <a:r>
              <a:rPr lang="en-US" dirty="0"/>
              <a:t>Each coefficient reflects the effect of one predictor, holding others constant.</a:t>
            </a:r>
          </a:p>
          <a:p>
            <a:r>
              <a:rPr lang="en-US" dirty="0"/>
              <a:t>Adjusted R² penalizes for adding irrelevant predictors to the model.</a:t>
            </a:r>
          </a:p>
          <a:p>
            <a:r>
              <a:rPr lang="en-US" dirty="0"/>
              <a:t>An F-test assesses overall model significance across all predictors.</a:t>
            </a:r>
          </a:p>
          <a:p>
            <a:r>
              <a:rPr lang="en-US" dirty="0"/>
              <a:t>Multicollinearity inflates standard errors and distorts coefficient estimates.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Multiple Regression Models</a:t>
            </a:r>
          </a:p>
        </p:txBody>
      </p:sp>
      <p:sp>
        <p:nvSpPr>
          <p:cNvPr id="3" name="Content Placeholder 2"/>
          <p:cNvSpPr>
            <a:spLocks noGrp="1"/>
          </p:cNvSpPr>
          <p:nvPr>
            <p:ph idx="1"/>
          </p:nvPr>
        </p:nvSpPr>
        <p:spPr/>
        <p:txBody>
          <a:bodyPr/>
          <a:lstStyle/>
          <a:p>
            <a:r>
              <a:rPr lang="en-US" dirty="0"/>
              <a:t>Use variable selection methods: forward, backward, or stepwise selection.</a:t>
            </a:r>
          </a:p>
          <a:p>
            <a:r>
              <a:rPr lang="en-US" dirty="0"/>
              <a:t>Transform skewed variables to better satisfy linearity assumptions.</a:t>
            </a:r>
          </a:p>
          <a:p>
            <a:r>
              <a:rPr lang="en-US" dirty="0"/>
              <a:t>Remove or combine highly collinear predictors to stabilize estimates.</a:t>
            </a:r>
          </a:p>
          <a:p>
            <a:r>
              <a:rPr lang="en-US" dirty="0"/>
              <a:t>Validate the model on a held-out dataset to assess generalizability.</a:t>
            </a:r>
          </a:p>
          <a:p>
            <a:r>
              <a:rPr lang="en-US" dirty="0"/>
              <a:t>Balance model complexity with interpretability and predictive accuracy.</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Drawing Data-Driven Conclusions</a:t>
            </a:r>
          </a:p>
        </p:txBody>
      </p:sp>
      <p:sp>
        <p:nvSpPr>
          <p:cNvPr id="3" name="Content Placeholder 2"/>
          <p:cNvSpPr>
            <a:spLocks noGrp="1"/>
          </p:cNvSpPr>
          <p:nvPr>
            <p:ph idx="1"/>
          </p:nvPr>
        </p:nvSpPr>
        <p:spPr/>
        <p:txBody>
          <a:bodyPr/>
          <a:lstStyle/>
          <a:p>
            <a:r>
              <a:rPr lang="en-US" dirty="0"/>
              <a:t>Match the statistical method to the research question and data type.</a:t>
            </a:r>
          </a:p>
          <a:p>
            <a:r>
              <a:rPr lang="en-US" dirty="0"/>
              <a:t>Always validate assumptions before trusting model outputs.</a:t>
            </a:r>
          </a:p>
          <a:p>
            <a:r>
              <a:rPr lang="en-US" dirty="0"/>
              <a:t>Interpret p-values alongside effect sizes and confidence intervals.</a:t>
            </a:r>
          </a:p>
          <a:p>
            <a:r>
              <a:rPr lang="en-US" dirty="0"/>
              <a:t>Translate coefficients and correlations into plain-language business insights.</a:t>
            </a:r>
          </a:p>
          <a:p>
            <a:r>
              <a:rPr lang="en-US" dirty="0"/>
              <a:t>Communicate uncertainty honestly and accessibly to all audiences.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Communicating Statistical Results Effectively</a:t>
            </a:r>
          </a:p>
        </p:txBody>
      </p:sp>
      <p:sp>
        <p:nvSpPr>
          <p:cNvPr id="3" name="Content Placeholder 2"/>
          <p:cNvSpPr>
            <a:spLocks noGrp="1"/>
          </p:cNvSpPr>
          <p:nvPr>
            <p:ph idx="1"/>
          </p:nvPr>
        </p:nvSpPr>
        <p:spPr/>
        <p:txBody>
          <a:bodyPr/>
          <a:lstStyle/>
          <a:p>
            <a:r>
              <a:rPr lang="en-US" dirty="0"/>
              <a:t>Tailor technical depth to the knowledge level of your audience.</a:t>
            </a:r>
          </a:p>
          <a:p>
            <a:r>
              <a:rPr lang="en-US" dirty="0"/>
              <a:t>Use visualizations to support, not replace, statistical explanations.</a:t>
            </a:r>
          </a:p>
          <a:p>
            <a:r>
              <a:rPr lang="en-US" dirty="0"/>
              <a:t>Lead with the business question, not the statistical method.</a:t>
            </a:r>
          </a:p>
          <a:p>
            <a:r>
              <a:rPr lang="en-US" dirty="0"/>
              <a:t>Acknowledge limitations and sources of uncertainty in your analysis.</a:t>
            </a:r>
          </a:p>
          <a:p>
            <a:r>
              <a:rPr lang="en-US" dirty="0"/>
              <a:t>Provide a clear recommendation with supporting evidence.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Inferential Statistics to Real Data</a:t>
            </a:r>
          </a:p>
        </p:txBody>
      </p:sp>
      <p:sp>
        <p:nvSpPr>
          <p:cNvPr id="3" name="Content Placeholder 2"/>
          <p:cNvSpPr>
            <a:spLocks noGrp="1"/>
          </p:cNvSpPr>
          <p:nvPr>
            <p:ph idx="1"/>
          </p:nvPr>
        </p:nvSpPr>
        <p:spPr/>
        <p:txBody>
          <a:bodyPr/>
          <a:lstStyle/>
          <a:p>
            <a:r>
              <a:rPr lang="en-US" dirty="0"/>
              <a:t>Integrate data cleaning and EDA before conducting formal inference.</a:t>
            </a:r>
          </a:p>
          <a:p>
            <a:r>
              <a:rPr lang="en-US" dirty="0"/>
              <a:t>Check for outliers, missing values, and distributional issues first.</a:t>
            </a:r>
          </a:p>
          <a:p>
            <a:r>
              <a:rPr lang="en-US" dirty="0"/>
              <a:t>Use A/B testing frameworks to evaluate product or policy changes.</a:t>
            </a:r>
          </a:p>
          <a:p>
            <a:r>
              <a:rPr lang="en-US" dirty="0"/>
              <a:t>Regression and correlation reveal structure within observational datasets.</a:t>
            </a:r>
          </a:p>
          <a:p>
            <a:r>
              <a:rPr lang="en-US" dirty="0"/>
              <a:t>Document every analytical decision to ensure reproducibility.</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Key Takeaways</a:t>
            </a:r>
          </a:p>
        </p:txBody>
      </p:sp>
      <p:sp>
        <p:nvSpPr>
          <p:cNvPr id="3" name="Content Placeholder 2"/>
          <p:cNvSpPr>
            <a:spLocks noGrp="1"/>
          </p:cNvSpPr>
          <p:nvPr>
            <p:ph idx="1"/>
          </p:nvPr>
        </p:nvSpPr>
        <p:spPr/>
        <p:txBody>
          <a:bodyPr/>
          <a:lstStyle/>
          <a:p>
            <a:r>
              <a:rPr lang="en-US" dirty="0"/>
              <a:t>Hypothesis testing provides a principled framework for evidence-based decisions.</a:t>
            </a:r>
          </a:p>
          <a:p>
            <a:r>
              <a:rPr lang="en-US" dirty="0"/>
              <a:t>P-values measure evidence against H₀; always pair them with effect sizes.</a:t>
            </a:r>
          </a:p>
          <a:p>
            <a:r>
              <a:rPr lang="en-US" dirty="0"/>
              <a:t>A/B testing applies these principles to controlled business experiments.</a:t>
            </a:r>
          </a:p>
          <a:p>
            <a:r>
              <a:rPr lang="en-US" dirty="0"/>
              <a:t>Correlation measures association; it does not establish causation.</a:t>
            </a:r>
          </a:p>
          <a:p>
            <a:r>
              <a:rPr lang="en-US" dirty="0"/>
              <a:t>Regression models relationships and enables prediction from data.</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Hypothesis Testing, Correlation, and Regression Analysis</dc:title>
  <dc:creator>PreseMaker</dc:creator>
  <cp:lastModifiedBy>PreseMaker</cp:lastModifiedBy>
  <dcterms:created xsi:type="dcterms:W3CDTF">2026-07-03T18:04:51Z</dcterms:created>
  <dcterms:modified xsi:type="dcterms:W3CDTF">2026-07-03T18:04:51Z</dcterms:modified>
</cp:coreProperties>
</file>
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everyone. This presentation covers four interconnected pillars of modern data analytics practice: the ethical foundations that guide our work, privacy and data protection requirements, the challenge of bias and fairness, responsible use of analytical outputs, and the practical landscape of data types and data sources. These topics are essential for any analyst working in today's data-driven environment.</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slide introduces the core ethical principles governing data analytics. Ethics matters because analytical decisions directly affect people's lives — from hiring to healthcare. Fairness means models must not produce discriminatory outcomes. Transparency requires disclosing how data is collected and how models reach conclusions. Accountability ensures that when harm occurs, responsible parties can be identified. Privacy is a cornerstone principle, limiting data use to agreed-upon purposes. Together, these principles form the moral foundation of professional analytics practice.</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Bias in analytics occurs when systematic errors cause results to favor or disadvantage particular groups. This can stem from how data is collected, how models are designed, or how results are interpreted. Recognizing bias requires deliberate scrutiny at every stage. Mitigating bias involves interventions at the data, algorithm, and organizational levels. Responsible use of data and analytical outputs means applying findings in ways consistent with ethical principles and the well-being of those affected — not simply optimizing for technical performance metrics.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Privacy is not just a legal obligation — it is an ethical imperative. Individuals have expectations about how their personal data is used, and analysts must respect those expectations. Informed consent means people knowingly agree to data collection before it occurs. Data minimization, a privacy-by-design principle, restricts collection to what is strictly necessary. Key regulations such as GDPR, CCPA, and HIPAA impose formal requirements on organizations handling personal data. Anonymization removes identifying information entirely, while pseudonymization replaces it with artificial identifiers — both techniques enable analysis while reducing privacy risk.</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Legal compliance sets the floor, not the ceiling, for data protection. Organizations and analysts should proactively adopt best practices that reduce harm and build stakeholder trust. A privacy-first mindset means considering privacy implications at every stage of the analytics workflow — from data collection to reporting. Access controls, encryption, regular audits, and clear data retention policies are practical tools for protecting personal information. Going beyond compliance demonstrates organizational commitment to ethical data stewardship and strengthens public confidence in analytical work.</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Bias is not a single problem — it can infiltrate the analytics pipeline at multiple points. During data collection, sampling bias, survivorship bias, and measurement bias are frequent culprits. During modeling, algorithmic choices can amplify existing disparities. Interpretive bias occurs when results are selectively communicated. The real-world impact of biased analytics is significant: discriminatory outcomes in criminal justice, healthcare, and financial services have been well documented. Detecting bias requires deliberate analysis of data composition and model behavior across demographic subgroups. Importantly, there is no single universal definition of fairness — different frameworks, such as demographic parity, equalized odds, and individual fairness, make different trade-offs, and selecting among them is itself an ethical decision.</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Reducing bias requires a multi-layered approach. At the data level, analysts can resample, reweight, or augment datasets to improve representativeness. At the algorithm level, fairness constraints can be incorporated into model training objectives. At the organizational level, governance structures, diverse teams, and ethics review processes are essential. Fairness must be treated as a continuous process embedded in the analytics culture — not a checkbox completed at model launch. Transparent documentation of fairness-related decisions enables accountability and supports external auditing when needed.</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Data professionals carry responsibilities that extend beyond their employers and clients to the broader public. Misrepresentation is a serious ethical violation — presenting technically accurate facts in misleading ways is still dishonest. Analysts must consider the societal impact of their work, recognizing that analytical findings influence policies, resource allocation, and individual opportunities at scale. Ethical frameworks such as utilitarianism, deontological ethics, and virtue ethics offer principled approaches for navigating difficult decisions. Professional organizations including the American Statistical Association and ACM publish codes of ethics that establish baseline conduct standards for practitioners.</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Transparent reporting means disclosing not just results but the methods, assumptions, and limitations behind them. This allows stakeholders — including non-technical decision-makers — to appropriately calibrate their trust in analytical outputs. Explainability is especially critical when models influence high-stakes decisions. Beyond individual practice, building an ethical data culture requires organizational commitment: clear policies, ethics training, leadership modeling, and accountability mechanisms. Ethical data practice is not solely an individual obligation — it must be institutionalized through governance structures and organizational norms to be effective at scale.</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Structured data is organized in rows and columns with consistent formatting, making it straightforward to store, search, and analyze using SQL and traditional business intelligence tools. Examples include sales records, financial transactions, and survey responses. Unstructured data — such as social media posts, images, audio recordings, and video — lacks a predefined schema, making it harder to process but richer in content. Unstructured data now accounts for the vast majority of data generated globally. Analyzing it requires natural language processing, computer vision, and other advanced techniques, along with significantly greater computational resources. Effective analytics often requires combining both data types to answer complex research questions.</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Choosing between structured and unstructured data is not purely a technical decision — it should be driven by the research question. Structured data is ideal for quantitative analysis, trend tracking, and operational reporting. Unstructured data unlocks insights into customer sentiment, emerging topics, and visual patterns. Analysts must also consider the appropriateness of a data source relative to project requirements: scope, granularity, format, and ethical constraints all matter. Using overly broad data when narrow data would suffice raises privacy and data minimization concerns. The best analytical solutions often integrate multiple data types.</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Data analysts draw from a wide landscape of sources. Publicly available datasets from governments, international organizations, and research institutions — such as data.gov, the World Bank, and the U.S. Census Bureau — are freely accessible starting points. Open data repositories like Kaggle, UCI Machine Learning Repository, and Humanitarian Data Exchange aggregate curated datasets. Organizations maintain internal databases containing transactional and operational data that form the backbone of business analytics. Web APIs — such as those provided by Twitter, Google Maps, or financial data providers — allow real-time, programmatic data retrieval. Before using any source, analysts must assess its quality, reliability, and credibility through criteria such as documentation completeness, publisher transparency, and data freshness.</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Data collection is a foundational analytical skill. Web APIs are the preferred method for accessing external data — they provide structured, authorized, and often documented access to datasets from online platforms and services. API interaction involves sending HTTP requests to an endpoint and parsing the returned JSON or XML response. When no API is available, web scraping can programmatically extract data from HTML pages, though analysts must consider legal and ethical constraints before scraping. Internal relational databases are accessed using SQL, which allows analysts to filter, join, and aggregate large volumes of structured organizational data efficiently. Public data repositories complement these methods by offering pre-curated datasets for download.</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No single data collection method is universally superior. APIs offer reliability and structure but may impose rate limits, require authentication, or charge for access. Web scraping provides flexibility when APIs are unavailable, but analysts must carefully evaluate terms of service and privacy implications before scraping personal data. Internal database queries give analysts deep access to granular organizational data, but require system permissions and knowledge of database schema. Public repositories are convenient and often well-documented, but datasets may be outdated or not granular enough for specific needs. Analysts should evaluate each method against the dimensions of automation potential, data quality, access complexity, legal permissibility, and ethical appropriateness.</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ethical practice is the foundation upon which responsible analytics is built. The core principles — fairness, transparency, accountability, and privacy — must be embedded into every stage of the analytics workflow, from data collection through reporting. Bias is a pervasive challenge that demands ongoing attention at the data, model, and organizational levels. Understanding the distinction between structured and unstructured data, and knowing when to use each, is a fundamental analytical competency. Finally, selecting data sources requires evaluating quality, reliability, credibility, and ethical appropriateness — not just availability. As future data professionals, you are responsible for ensuring that your analytical work serves both organizational goals and the broader public good.</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Ethics, Data Types, and Data Sources in Analytics</a:t>
            </a:r>
          </a:p>
        </p:txBody>
      </p:sp>
      <p:sp>
        <p:nvSpPr>
          <p:cNvPr id="3" name="Content Placeholder 2"/>
          <p:cNvSpPr>
            <a:spLocks noGrp="1"/>
          </p:cNvSpPr>
          <p:nvPr>
            <p:ph idx="1"/>
          </p:nvPr>
        </p:nvSpPr>
        <p:spPr/>
        <p:txBody>
          <a:bodyPr/>
          <a:lstStyle/>
          <a:p>
            <a:pPr algn="ctr">
              <a:buNone/>
            </a:pPr>
            <a:r>
              <a:rPr lang="en-US" dirty="0"/>
              <a:t>A foundational exploration of ethical principles, data classification, and responsible data acquisition for analytics professionals.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Foundations in Data Analytics</a:t>
            </a:r>
          </a:p>
        </p:txBody>
      </p:sp>
      <p:sp>
        <p:nvSpPr>
          <p:cNvPr id="3" name="Content Placeholder 2"/>
          <p:cNvSpPr>
            <a:spLocks noGrp="1"/>
          </p:cNvSpPr>
          <p:nvPr>
            <p:ph idx="1"/>
          </p:nvPr>
        </p:nvSpPr>
        <p:spPr/>
        <p:txBody>
          <a:bodyPr/>
          <a:lstStyle/>
          <a:p>
            <a:r>
              <a:rPr lang="en-US" dirty="0"/>
              <a:t>Ethics establishes the moral framework for data-driven decisions.</a:t>
            </a:r>
          </a:p>
          <a:p>
            <a:r>
              <a:rPr lang="en-US" dirty="0"/>
              <a:t>Fairness requires equitable treatment of all individuals and groups.</a:t>
            </a:r>
          </a:p>
          <a:p>
            <a:r>
              <a:rPr lang="en-US" dirty="0"/>
              <a:t>Transparency means being open about methods and conclusions.</a:t>
            </a:r>
          </a:p>
          <a:p>
            <a:r>
              <a:rPr lang="en-US" dirty="0"/>
              <a:t>Accountability holds analysts responsible for outcomes.</a:t>
            </a:r>
          </a:p>
          <a:p>
            <a:r>
              <a:rPr lang="en-US" dirty="0"/>
              <a:t>Privacy protects individuals' right to control their data.</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Responsibility, and Ethical Use</a:t>
            </a:r>
          </a:p>
        </p:txBody>
      </p:sp>
      <p:sp>
        <p:nvSpPr>
          <p:cNvPr id="3" name="Content Placeholder 2"/>
          <p:cNvSpPr>
            <a:spLocks noGrp="1"/>
          </p:cNvSpPr>
          <p:nvPr>
            <p:ph idx="1"/>
          </p:nvPr>
        </p:nvSpPr>
        <p:spPr/>
        <p:txBody>
          <a:bodyPr/>
          <a:lstStyle/>
          <a:p>
            <a:r>
              <a:rPr lang="en-US" dirty="0"/>
              <a:t>Bias skews results against or in favor of certain groups.</a:t>
            </a:r>
          </a:p>
          <a:p>
            <a:r>
              <a:rPr lang="en-US" dirty="0"/>
              <a:t>Systematic errors arise from flawed data or methodology.</a:t>
            </a:r>
          </a:p>
          <a:p>
            <a:r>
              <a:rPr lang="en-US" dirty="0"/>
              <a:t>Recognizing bias is the first step toward mitigation.</a:t>
            </a:r>
          </a:p>
          <a:p>
            <a:r>
              <a:rPr lang="en-US" dirty="0"/>
              <a:t>Responsible use aligns findings with ethical principles.</a:t>
            </a:r>
          </a:p>
          <a:p>
            <a:r>
              <a:rPr lang="en-US" dirty="0"/>
              <a:t>Analytical outputs must support well-being, not undermine it.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Privacy and Data Protection</a:t>
            </a:r>
          </a:p>
        </p:txBody>
      </p:sp>
      <p:sp>
        <p:nvSpPr>
          <p:cNvPr id="3" name="Content Placeholder 2"/>
          <p:cNvSpPr>
            <a:spLocks noGrp="1"/>
          </p:cNvSpPr>
          <p:nvPr>
            <p:ph idx="1"/>
          </p:nvPr>
        </p:nvSpPr>
        <p:spPr/>
        <p:txBody>
          <a:bodyPr/>
          <a:lstStyle/>
          <a:p>
            <a:r>
              <a:rPr lang="en-US" dirty="0"/>
              <a:t>Privacy is a fundamental right in data analytics.</a:t>
            </a:r>
          </a:p>
          <a:p>
            <a:r>
              <a:rPr lang="en-US" dirty="0"/>
              <a:t>Informed consent must precede any personal data collection.</a:t>
            </a:r>
          </a:p>
          <a:p>
            <a:r>
              <a:rPr lang="en-US" dirty="0"/>
              <a:t>Data minimization limits collection to necessary information only.</a:t>
            </a:r>
          </a:p>
          <a:p>
            <a:r>
              <a:rPr lang="en-US" dirty="0"/>
              <a:t>Regulations like GDPR formalize privacy rights and obligations.</a:t>
            </a:r>
          </a:p>
          <a:p>
            <a:r>
              <a:rPr lang="en-US" dirty="0"/>
              <a:t>Anonymization and pseudonymization reduce re-identification risk.</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for Protecting Personal Data</a:t>
            </a:r>
          </a:p>
        </p:txBody>
      </p:sp>
      <p:sp>
        <p:nvSpPr>
          <p:cNvPr id="3" name="Content Placeholder 2"/>
          <p:cNvSpPr>
            <a:spLocks noGrp="1"/>
          </p:cNvSpPr>
          <p:nvPr>
            <p:ph idx="1"/>
          </p:nvPr>
        </p:nvSpPr>
        <p:spPr/>
        <p:txBody>
          <a:bodyPr/>
          <a:lstStyle/>
          <a:p>
            <a:r>
              <a:rPr lang="en-US" dirty="0"/>
              <a:t>Adopt a privacy-first mindset throughout the analytics workflow.</a:t>
            </a:r>
          </a:p>
          <a:p>
            <a:r>
              <a:rPr lang="en-US" dirty="0"/>
              <a:t>Limit data access to authorized personnel only.</a:t>
            </a:r>
          </a:p>
          <a:p>
            <a:r>
              <a:rPr lang="en-US" dirty="0"/>
              <a:t>Encrypt sensitive data in transit and at rest.</a:t>
            </a:r>
          </a:p>
          <a:p>
            <a:r>
              <a:rPr lang="en-US" dirty="0"/>
              <a:t>Regularly audit data handling practices for compliance.</a:t>
            </a:r>
          </a:p>
          <a:p>
            <a:r>
              <a:rPr lang="en-US" dirty="0"/>
              <a:t>Build trust by going beyond minimum legal requirements.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and Fairness in the Analytics Pipeline</a:t>
            </a:r>
          </a:p>
        </p:txBody>
      </p:sp>
      <p:sp>
        <p:nvSpPr>
          <p:cNvPr id="3" name="Content Placeholder 2"/>
          <p:cNvSpPr>
            <a:spLocks noGrp="1"/>
          </p:cNvSpPr>
          <p:nvPr>
            <p:ph idx="1"/>
          </p:nvPr>
        </p:nvSpPr>
        <p:spPr/>
        <p:txBody>
          <a:bodyPr/>
          <a:lstStyle/>
          <a:p>
            <a:r>
              <a:rPr lang="en-US" dirty="0"/>
              <a:t>Bias can enter at collection, modeling, or interpretation stages.</a:t>
            </a:r>
          </a:p>
          <a:p>
            <a:r>
              <a:rPr lang="en-US" dirty="0"/>
              <a:t>Sampling and measurement errors are common collection biases.</a:t>
            </a:r>
          </a:p>
          <a:p>
            <a:r>
              <a:rPr lang="en-US" dirty="0"/>
              <a:t>Biased models cause harm in hiring, lending, and healthcare.</a:t>
            </a:r>
          </a:p>
          <a:p>
            <a:r>
              <a:rPr lang="en-US" dirty="0"/>
              <a:t>Detecting bias requires examining data composition and outcomes.</a:t>
            </a:r>
          </a:p>
          <a:p>
            <a:r>
              <a:rPr lang="en-US" dirty="0"/>
              <a:t>Multiple competing fairness definitions involve ethical trade-offs.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Strategies for Fair and Responsible Analytics</a:t>
            </a:r>
          </a:p>
        </p:txBody>
      </p:sp>
      <p:sp>
        <p:nvSpPr>
          <p:cNvPr id="3" name="Content Placeholder 2"/>
          <p:cNvSpPr>
            <a:spLocks noGrp="1"/>
          </p:cNvSpPr>
          <p:nvPr>
            <p:ph idx="1"/>
          </p:nvPr>
        </p:nvSpPr>
        <p:spPr/>
        <p:txBody>
          <a:bodyPr/>
          <a:lstStyle/>
          <a:p>
            <a:r>
              <a:rPr lang="en-US" dirty="0"/>
              <a:t>Mitigate bias at data, algorithm, and organizational levels.</a:t>
            </a:r>
          </a:p>
          <a:p>
            <a:r>
              <a:rPr lang="en-US" dirty="0"/>
              <a:t>Embed fairness checks into standard analytical workflows.</a:t>
            </a:r>
          </a:p>
          <a:p>
            <a:r>
              <a:rPr lang="en-US" dirty="0"/>
              <a:t>Use diverse teams to surface blind spots early.</a:t>
            </a:r>
          </a:p>
          <a:p>
            <a:r>
              <a:rPr lang="en-US" dirty="0"/>
              <a:t>Treat fairness as ongoing governance, not a one-time fix.</a:t>
            </a:r>
          </a:p>
          <a:p>
            <a:r>
              <a:rPr lang="en-US" dirty="0"/>
              <a:t>Document fairness decisions transparently for accountability.</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Responsible and Ethical Use of Data</a:t>
            </a:r>
          </a:p>
        </p:txBody>
      </p:sp>
      <p:sp>
        <p:nvSpPr>
          <p:cNvPr id="3" name="Content Placeholder 2"/>
          <p:cNvSpPr>
            <a:spLocks noGrp="1"/>
          </p:cNvSpPr>
          <p:nvPr>
            <p:ph idx="1"/>
          </p:nvPr>
        </p:nvSpPr>
        <p:spPr/>
        <p:txBody>
          <a:bodyPr/>
          <a:lstStyle/>
          <a:p>
            <a:r>
              <a:rPr lang="en-US" dirty="0"/>
              <a:t>Data professionals have a duty of care to the public.</a:t>
            </a:r>
          </a:p>
          <a:p>
            <a:r>
              <a:rPr lang="en-US" dirty="0"/>
              <a:t>Avoid misrepresentation, even when individual facts are accurate.</a:t>
            </a:r>
          </a:p>
          <a:p>
            <a:r>
              <a:rPr lang="en-US" dirty="0"/>
              <a:t>Consider how findings affect communities and policy decisions.</a:t>
            </a:r>
          </a:p>
          <a:p>
            <a:r>
              <a:rPr lang="en-US" dirty="0"/>
              <a:t>Use structured ethical frameworks to guide complex decisions.</a:t>
            </a:r>
          </a:p>
          <a:p>
            <a:r>
              <a:rPr lang="en-US" dirty="0"/>
              <a:t>Follow professional codes of ethics as baseline standards.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Transparency, Explainability, and Ethical Culture</a:t>
            </a:r>
          </a:p>
        </p:txBody>
      </p:sp>
      <p:sp>
        <p:nvSpPr>
          <p:cNvPr id="3" name="Content Placeholder 2"/>
          <p:cNvSpPr>
            <a:spLocks noGrp="1"/>
          </p:cNvSpPr>
          <p:nvPr>
            <p:ph idx="1"/>
          </p:nvPr>
        </p:nvSpPr>
        <p:spPr/>
        <p:txBody>
          <a:bodyPr/>
          <a:lstStyle/>
          <a:p>
            <a:r>
              <a:rPr lang="en-US" dirty="0"/>
              <a:t>Communicate methods, assumptions, and limitations clearly.</a:t>
            </a:r>
          </a:p>
          <a:p>
            <a:r>
              <a:rPr lang="en-US" dirty="0"/>
              <a:t>Explainability allows stakeholders to appropriately trust findings.</a:t>
            </a:r>
          </a:p>
          <a:p>
            <a:r>
              <a:rPr lang="en-US" dirty="0"/>
              <a:t>Organizations must embed ethical norms into processes and culture.</a:t>
            </a:r>
          </a:p>
          <a:p>
            <a:r>
              <a:rPr lang="en-US" dirty="0"/>
              <a:t>Leadership commitment is essential for ethical data governance.</a:t>
            </a:r>
          </a:p>
          <a:p>
            <a:r>
              <a:rPr lang="en-US" dirty="0"/>
              <a:t>Individual responsibility and organizational structures reinforce each other.</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and Unstructured Data</a:t>
            </a:r>
          </a:p>
        </p:txBody>
      </p:sp>
      <p:sp>
        <p:nvSpPr>
          <p:cNvPr id="3" name="Content Placeholder 2"/>
          <p:cNvSpPr>
            <a:spLocks noGrp="1"/>
          </p:cNvSpPr>
          <p:nvPr>
            <p:ph idx="1"/>
          </p:nvPr>
        </p:nvSpPr>
        <p:spPr/>
        <p:txBody>
          <a:bodyPr/>
          <a:lstStyle/>
          <a:p>
            <a:r>
              <a:rPr lang="en-US" dirty="0"/>
              <a:t>Structured data uses predefined formats stored in relational databases.</a:t>
            </a:r>
          </a:p>
          <a:p>
            <a:r>
              <a:rPr lang="en-US" dirty="0"/>
              <a:t>Unstructured data lacks schema — text, images, video, audio.</a:t>
            </a:r>
          </a:p>
          <a:p>
            <a:r>
              <a:rPr lang="en-US" dirty="0"/>
              <a:t>Structured data is fast to query and compatible with many tools.</a:t>
            </a:r>
          </a:p>
          <a:p>
            <a:r>
              <a:rPr lang="en-US" dirty="0"/>
              <a:t>Unstructured data captures richer, nuanced human behavior.</a:t>
            </a:r>
          </a:p>
          <a:p>
            <a:r>
              <a:rPr lang="en-US" dirty="0"/>
              <a:t>Unstructured data requires more preprocessing and computation.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the Right Data Type and Source</a:t>
            </a:r>
          </a:p>
        </p:txBody>
      </p:sp>
      <p:sp>
        <p:nvSpPr>
          <p:cNvPr id="3" name="Content Placeholder 2"/>
          <p:cNvSpPr>
            <a:spLocks noGrp="1"/>
          </p:cNvSpPr>
          <p:nvPr>
            <p:ph idx="1"/>
          </p:nvPr>
        </p:nvSpPr>
        <p:spPr/>
        <p:txBody>
          <a:bodyPr/>
          <a:lstStyle/>
          <a:p>
            <a:r>
              <a:rPr lang="en-US" dirty="0"/>
              <a:t>Match data type to the specific research question.</a:t>
            </a:r>
          </a:p>
          <a:p>
            <a:r>
              <a:rPr lang="en-US" dirty="0"/>
              <a:t>Structured data suits quantitative, transactional analysis.</a:t>
            </a:r>
          </a:p>
          <a:p>
            <a:r>
              <a:rPr lang="en-US" dirty="0"/>
              <a:t>Unstructured data suits sentiment, image, or text analysis.</a:t>
            </a:r>
          </a:p>
          <a:p>
            <a:r>
              <a:rPr lang="en-US" dirty="0"/>
              <a:t>Align data source scope and granularity with project needs.</a:t>
            </a:r>
          </a:p>
          <a:p>
            <a:r>
              <a:rPr lang="en-US" dirty="0"/>
              <a:t>Evaluate ethical constraints when selecting data types.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Data Sources and Repositories</a:t>
            </a:r>
          </a:p>
        </p:txBody>
      </p:sp>
      <p:sp>
        <p:nvSpPr>
          <p:cNvPr id="3" name="Content Placeholder 2"/>
          <p:cNvSpPr>
            <a:spLocks noGrp="1"/>
          </p:cNvSpPr>
          <p:nvPr>
            <p:ph idx="1"/>
          </p:nvPr>
        </p:nvSpPr>
        <p:spPr/>
        <p:txBody>
          <a:bodyPr/>
          <a:lstStyle/>
          <a:p>
            <a:r>
              <a:rPr lang="en-US" dirty="0"/>
              <a:t>Government and research institutions publish public datasets.</a:t>
            </a:r>
          </a:p>
          <a:p>
            <a:r>
              <a:rPr lang="en-US" dirty="0"/>
              <a:t>Open data repositories aggregate datasets from multiple contributors.</a:t>
            </a:r>
          </a:p>
          <a:p>
            <a:r>
              <a:rPr lang="en-US" dirty="0"/>
              <a:t>Organizational databases store transactional and operational data.</a:t>
            </a:r>
          </a:p>
          <a:p>
            <a:r>
              <a:rPr lang="en-US" dirty="0"/>
              <a:t>Web APIs provide programmatic access to real-time data.</a:t>
            </a:r>
          </a:p>
          <a:p>
            <a:r>
              <a:rPr lang="en-US" dirty="0"/>
              <a:t>Evaluate quality, reliability, and credibility before use.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Collection Methods</a:t>
            </a:r>
          </a:p>
        </p:txBody>
      </p:sp>
      <p:sp>
        <p:nvSpPr>
          <p:cNvPr id="3" name="Content Placeholder 2"/>
          <p:cNvSpPr>
            <a:spLocks noGrp="1"/>
          </p:cNvSpPr>
          <p:nvPr>
            <p:ph idx="1"/>
          </p:nvPr>
        </p:nvSpPr>
        <p:spPr/>
        <p:txBody>
          <a:bodyPr/>
          <a:lstStyle/>
          <a:p>
            <a:r>
              <a:rPr lang="en-US" dirty="0"/>
              <a:t>Analysts collect data via APIs, scraping, and database queries.</a:t>
            </a:r>
          </a:p>
          <a:p>
            <a:r>
              <a:rPr lang="en-US" dirty="0"/>
              <a:t>APIs offer structured, authorized access to external data.</a:t>
            </a:r>
          </a:p>
          <a:p>
            <a:r>
              <a:rPr lang="en-US" dirty="0"/>
              <a:t>HTTP requests retrieve data from API endpoints in JSON or XML.</a:t>
            </a:r>
          </a:p>
          <a:p>
            <a:r>
              <a:rPr lang="en-US" dirty="0"/>
              <a:t>Web scraping extracts data from HTML when no API exists.</a:t>
            </a:r>
          </a:p>
          <a:p>
            <a:r>
              <a:rPr lang="en-US" dirty="0"/>
              <a:t>SQL queries retrieve structured data from internal databases.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Comparing Data Collection Methods</a:t>
            </a:r>
          </a:p>
        </p:txBody>
      </p:sp>
      <p:sp>
        <p:nvSpPr>
          <p:cNvPr id="3" name="Content Placeholder 2"/>
          <p:cNvSpPr>
            <a:spLocks noGrp="1"/>
          </p:cNvSpPr>
          <p:nvPr>
            <p:ph idx="1"/>
          </p:nvPr>
        </p:nvSpPr>
        <p:spPr/>
        <p:txBody>
          <a:bodyPr/>
          <a:lstStyle/>
          <a:p>
            <a:r>
              <a:rPr lang="en-US" dirty="0"/>
              <a:t>Each method involves trade-offs in automation and data quality.</a:t>
            </a:r>
          </a:p>
          <a:p>
            <a:r>
              <a:rPr lang="en-US" dirty="0"/>
              <a:t>APIs are reliable but may have rate limits and access costs.</a:t>
            </a:r>
          </a:p>
          <a:p>
            <a:r>
              <a:rPr lang="en-US" dirty="0"/>
              <a:t>Web scraping is flexible but legally and ethically sensitive.</a:t>
            </a:r>
          </a:p>
          <a:p>
            <a:r>
              <a:rPr lang="en-US" dirty="0"/>
              <a:t>Database queries are powerful but require internal access.</a:t>
            </a:r>
          </a:p>
          <a:p>
            <a:r>
              <a:rPr lang="en-US" dirty="0"/>
              <a:t>Public repositories are convenient but may lack timeliness.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Ethics, Data Types, and Data Sources</a:t>
            </a:r>
          </a:p>
        </p:txBody>
      </p:sp>
      <p:sp>
        <p:nvSpPr>
          <p:cNvPr id="3" name="Content Placeholder 2"/>
          <p:cNvSpPr>
            <a:spLocks noGrp="1"/>
          </p:cNvSpPr>
          <p:nvPr>
            <p:ph idx="1"/>
          </p:nvPr>
        </p:nvSpPr>
        <p:spPr/>
        <p:txBody>
          <a:bodyPr/>
          <a:lstStyle/>
          <a:p>
            <a:r>
              <a:rPr lang="en-US" dirty="0"/>
              <a:t>Ethics — fairness, transparency, accountability — guides all analytics.</a:t>
            </a:r>
          </a:p>
          <a:p>
            <a:r>
              <a:rPr lang="en-US" dirty="0"/>
              <a:t>Privacy protection and informed consent are non-negotiable obligations.</a:t>
            </a:r>
          </a:p>
          <a:p>
            <a:r>
              <a:rPr lang="en-US" dirty="0"/>
              <a:t>Bias must be identified and mitigated throughout the pipeline.</a:t>
            </a:r>
          </a:p>
          <a:p>
            <a:r>
              <a:rPr lang="en-US" dirty="0"/>
              <a:t>Structured and unstructured data each serve distinct analytical needs.</a:t>
            </a:r>
          </a:p>
          <a:p>
            <a:r>
              <a:rPr lang="en-US" dirty="0"/>
              <a:t>Quality, credibility, and ethical fit govern data source selection.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Ethics, Data Types, and Data Sources in Analytics</dc:title>
  <dc:creator>PreseMaker</dc:creator>
  <cp:lastModifiedBy>PreseMaker</cp:lastModifiedBy>
  <dcterms:created xsi:type="dcterms:W3CDTF">2026-07-03T17:52:25Z</dcterms:created>
  <dcterms:modified xsi:type="dcterms:W3CDTF">2026-07-03T17:52:25Z</dcterms:modified>
</cp:coreProperties>
</file>
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students to the course. This presentation covers the full workflow from organizing raw data with pivot tables, building interactive dashboards, and automating data import and preparation using Power Query. By the end, students will be equipped to handle real-world data analysis tasks efficiently and professionally.</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pivot table is Excel's most powerful summarization tool. It allows users to group, aggregate, and explore data without altering the source. Before creating one, ensure data has headers in row one, no blank rows or columns, and consistent data types per column. Inserting is done via Insert &gt; PivotTable. The Fields pane on the right lets you drag fields into Rows, Columns, Values, or Filters areas to build the report layout you need.</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a pivot table is built, users can double-click any value to see the underlying records in a new sheet — this is called drilling down. If the source data changes, right-click and choose Refresh or use the Data tab. By default, numeric fields use SUM and text fields use COUNT, but you can switch to AVERAGE, MAX, MIN, or others through Value Field Settings. Always format values with currency symbols or decimal places to improve readability.</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Calculated fields let you create new metrics inside the pivot table — for example, dividing Revenue by Units to get Average Price — without touching the source data. Grouping is especially useful for dates: right-click a date field and group by month or quarter. Standard filters work like dropdown menus, but Slicers provide clickable buttons for faster filtering. Timeline slicers are a special slicer type built specifically for date fields, offering a scrollable time bar to filter by day, month, quarter, or year.</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Multi-level pivot tables support hierarchical drilling — clicking the expand/collapse arrows lets users move between summary and detail views. To keep the pivot table range current as new data is added, convert the source to a Table (Ctrl+T) so it expands automatically. If data is added outside the original range, use Change Data Source under PivotTable Analyze to update the reference. Refresh All under the Data tab ensures all pivot tables reflect the latest data simultaneously.</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Dashboard design starts with planning: identify your audience, the key questions they need answered, and the metrics that matter most. Sketch a layout before opening Excel. Pivot charts are preferred because they inherit filters from their connected pivot table. Slicers can be linked to multiple pivot tables via Report Connections, so one click filters everything on the dashboard. KPI cells using formulas like GETPIVOTDATA or direct cell references pull summary values to display as prominent headline numbers.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professional dashboard uses a consistent color palette — typically two to three brand-aligned colors — and a single font family. Turn off gridlines via the View tab and hide row/column headers for a cleaner look. Chart formatting best practices include removing unnecessary gridlines from charts, placing labels directly on bars or lines instead of using a legend when possible, and keeping chart titles concise. Use Review &gt; Protect Sheet, allowing users to interact with slicers and filters but not edit formulas or layout. Add a Refresh All button using a shape linked to a macro for one-click updates.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topic deepens the design principles introduced in dashboard building. Slicers should be sized consistently and aligned to a grid for visual order. Timelines should be placed near the top or alongside slicers for a logical filtering section. Layout best practice follows the F-pattern of reading: most important KPIs top-left, charts in the center, detail tables at the bottom. Color consistency means using the same color for the same category across all charts. Once finalized, use sheet protection to lock cells while keeping slicers and timelines interactive.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Power Query is built into Excel and accessible via Data &gt; Get Data. It supports an extensive range of sources: local Excel or CSV files, SQL Server and other databases, SharePoint, web URLs, and cloud services like Azure. Once a source is connected, the Power Query Editor opens in a separate window where all transformations are applied visually. Critically, Power Query records every step so the entire process reruns automatically on refresh — eliminating repetitive manual data preparation. This makes it far more scalable and auditable than manual copy-paste workflows.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Power Query Editor provides a ribbon-based interface for all transformations. Common cleaning tasks include removing duplicates via Home &gt; Remove Rows, filling in blank cells, and replacing error values. Splitting columns by delimiter is useful for separating first and last names or date components. Pivoting reshapes rows into columns; unpivoting does the reverse — both are essential for normalizing data. Assigning data types correctly (number, date, text) is critical so that downstream pivot tables and charts interpret values accurately. Custom columns use a formula language called M, while conditional columns use a guided UI — no coding required.</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Power Query's most powerful features is the Applied Steps pane on the right side of the editor, which records every action taken. You can click any step to preview the data at that point, delete a step, or reorder steps. Merge (similar to SQL JOIN) combines two queries by a matching key column. Append stacks two queries with the same structure vertically, useful for combining monthly data files. When loading, you can load to a worksheet as a Table or directly to Excel's Data Model for use with pivot tables. Because all steps replay on refresh, the workflow is fully automated once configured.</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Refresh is the mechanism that keeps Power Query-powered workbooks current. In Connection Properties (Data &gt; Queries &amp; Connections &gt; right-click &gt; Properties), you can enable Refresh Every X minutes and Refresh data when opening the file. Refresh All triggers all queries and pivot tables at once, which is ideal for dashboards. For pivot tables to benefit from Power Query refresh, they must be built on top of the Power Query output table or the Data Model. This end-to-end connection ensures the full pipeline — from source data to dashboard — updates with minimal user effort.</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For more advanced automation, VBA macros can call ThisWorkbook.Connections('QueryName').Refresh to programmatically trigger individual queries, or ActiveWorkbook.RefreshAll for all connections. The Workbook_Open event in the VBA editor runs code automatically when the file opens. Background refresh is enabled by default and keeps Excel responsive, but it can cause issues in VBA workflows because the macro may continue before the query finishes — disabling it ensures sequential execution. Always test the full refresh workflow by modifying source data and confirming the change flows correctly through Power Query, into the pivot table, and onto the dashboard before deploying to end users.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the full course: Pivot tables are the foundation for fast, flexible data summarization. Advanced techniques like calculated fields, grouping, and slicers extend what pivot tables can do. Dashboards bring pivot tables, charts, and visual design together into a reporting tool that non-technical users can navigate. Power Query solves the data preparation problem by automating import, cleaning, and reshaping steps. Finally, configuring automatic refresh — through Connection Properties, Refresh All, or VBA — ensures the entire pipeline stays current with minimal manual effort. Students who master these tools will have a significant advantage in any data-driven professional environment.</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Pivot Tables, Dashboards, and Power Query in Excel</a:t>
            </a:r>
          </a:p>
        </p:txBody>
      </p:sp>
      <p:sp>
        <p:nvSpPr>
          <p:cNvPr id="3" name="Content Placeholder 2"/>
          <p:cNvSpPr>
            <a:spLocks noGrp="1"/>
          </p:cNvSpPr>
          <p:nvPr>
            <p:ph idx="1"/>
          </p:nvPr>
        </p:nvSpPr>
        <p:spPr/>
        <p:txBody>
          <a:bodyPr/>
          <a:lstStyle/>
          <a:p>
            <a:pPr algn="ctr">
              <a:buNone/>
            </a:pPr>
            <a:r>
              <a:rPr lang="en-US" dirty="0"/>
              <a:t>A professional guide to summarizing, visualizing, and automating data analysis in Excel.</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Pivot Tables</a:t>
            </a:r>
          </a:p>
        </p:txBody>
      </p:sp>
      <p:sp>
        <p:nvSpPr>
          <p:cNvPr id="3" name="Content Placeholder 2"/>
          <p:cNvSpPr>
            <a:spLocks noGrp="1"/>
          </p:cNvSpPr>
          <p:nvPr>
            <p:ph idx="1"/>
          </p:nvPr>
        </p:nvSpPr>
        <p:spPr/>
        <p:txBody>
          <a:bodyPr/>
          <a:lstStyle/>
          <a:p>
            <a:r>
              <a:rPr lang="en-US" dirty="0"/>
              <a:t>A pivot table summarizes large datasets interactively without formulas.</a:t>
            </a:r>
          </a:p>
          <a:p>
            <a:r>
              <a:rPr lang="en-US" dirty="0"/>
              <a:t>Source data must be clean, structured, and consistently formatted.</a:t>
            </a:r>
          </a:p>
          <a:p>
            <a:r>
              <a:rPr lang="en-US" dirty="0"/>
              <a:t>Insert a pivot table by selecting your data and choosing a location.</a:t>
            </a:r>
          </a:p>
          <a:p>
            <a:r>
              <a:rPr lang="en-US" dirty="0"/>
              <a:t>The PivotTable Fields pane controls all field assignments.</a:t>
            </a:r>
          </a:p>
          <a:p>
            <a:r>
              <a:rPr lang="en-US" dirty="0"/>
              <a:t>Rows, Columns, and Values define the report's structure.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Navigating and Customizing Pivot Tables</a:t>
            </a:r>
          </a:p>
        </p:txBody>
      </p:sp>
      <p:sp>
        <p:nvSpPr>
          <p:cNvPr id="3" name="Content Placeholder 2"/>
          <p:cNvSpPr>
            <a:spLocks noGrp="1"/>
          </p:cNvSpPr>
          <p:nvPr>
            <p:ph idx="1"/>
          </p:nvPr>
        </p:nvSpPr>
        <p:spPr/>
        <p:txBody>
          <a:bodyPr/>
          <a:lstStyle/>
          <a:p>
            <a:r>
              <a:rPr lang="en-US" dirty="0"/>
              <a:t>Double-click a value cell to drill down into source records.</a:t>
            </a:r>
          </a:p>
          <a:p>
            <a:r>
              <a:rPr lang="en-US" dirty="0"/>
              <a:t>Click Refresh to update the pivot table after data changes.</a:t>
            </a:r>
          </a:p>
          <a:p>
            <a:r>
              <a:rPr lang="en-US" dirty="0"/>
              <a:t>Default aggregation is SUM for numbers, COUNT for text.</a:t>
            </a:r>
          </a:p>
          <a:p>
            <a:r>
              <a:rPr lang="en-US" dirty="0"/>
              <a:t>Change summary functions via Value Field Settings.</a:t>
            </a:r>
          </a:p>
          <a:p>
            <a:r>
              <a:rPr lang="en-US" dirty="0"/>
              <a:t>Apply number formatting to values for professional presentation.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Pivot Table Techniques</a:t>
            </a:r>
          </a:p>
        </p:txBody>
      </p:sp>
      <p:sp>
        <p:nvSpPr>
          <p:cNvPr id="3" name="Content Placeholder 2"/>
          <p:cNvSpPr>
            <a:spLocks noGrp="1"/>
          </p:cNvSpPr>
          <p:nvPr>
            <p:ph idx="1"/>
          </p:nvPr>
        </p:nvSpPr>
        <p:spPr/>
        <p:txBody>
          <a:bodyPr/>
          <a:lstStyle/>
          <a:p>
            <a:r>
              <a:rPr lang="en-US" dirty="0"/>
              <a:t>Calculated fields add custom formula-based columns to pivot tables.</a:t>
            </a:r>
          </a:p>
          <a:p>
            <a:r>
              <a:rPr lang="en-US" dirty="0"/>
              <a:t>Grouping consolidates rows or columns into meaningful categories.</a:t>
            </a:r>
          </a:p>
          <a:p>
            <a:r>
              <a:rPr lang="en-US" dirty="0"/>
              <a:t>Date fields can be grouped by month, quarter, or year.</a:t>
            </a:r>
          </a:p>
          <a:p>
            <a:r>
              <a:rPr lang="en-US" dirty="0"/>
              <a:t>Report filters and field filters narrow displayed data subsets.</a:t>
            </a:r>
          </a:p>
          <a:p>
            <a:r>
              <a:rPr lang="en-US" dirty="0"/>
              <a:t>Slicers and Timeline slicers enable visual, interactive filtering.</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and Expanding Pivot Table Data</a:t>
            </a:r>
          </a:p>
        </p:txBody>
      </p:sp>
      <p:sp>
        <p:nvSpPr>
          <p:cNvPr id="3" name="Content Placeholder 2"/>
          <p:cNvSpPr>
            <a:spLocks noGrp="1"/>
          </p:cNvSpPr>
          <p:nvPr>
            <p:ph idx="1"/>
          </p:nvPr>
        </p:nvSpPr>
        <p:spPr/>
        <p:txBody>
          <a:bodyPr/>
          <a:lstStyle/>
          <a:p>
            <a:r>
              <a:rPr lang="en-US" dirty="0"/>
              <a:t>Expand or collapse field levels to explore data hierarchies.</a:t>
            </a:r>
          </a:p>
          <a:p>
            <a:r>
              <a:rPr lang="en-US" dirty="0"/>
              <a:t>Use Show Details to reveal records behind any summary value.</a:t>
            </a:r>
          </a:p>
          <a:p>
            <a:r>
              <a:rPr lang="en-US" dirty="0"/>
              <a:t>Change the data source range under PivotTable Analyze tab.</a:t>
            </a:r>
          </a:p>
          <a:p>
            <a:r>
              <a:rPr lang="en-US" dirty="0"/>
              <a:t>Refresh All updates every pivot table in the workbook at once.</a:t>
            </a:r>
          </a:p>
          <a:p>
            <a:r>
              <a:rPr lang="en-US" dirty="0"/>
              <a:t>Convert source data to an Excel Table for dynamic range expansion.</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Dynamic Dashboards</a:t>
            </a:r>
          </a:p>
        </p:txBody>
      </p:sp>
      <p:sp>
        <p:nvSpPr>
          <p:cNvPr id="3" name="Content Placeholder 2"/>
          <p:cNvSpPr>
            <a:spLocks noGrp="1"/>
          </p:cNvSpPr>
          <p:nvPr>
            <p:ph idx="1"/>
          </p:nvPr>
        </p:nvSpPr>
        <p:spPr/>
        <p:txBody>
          <a:bodyPr/>
          <a:lstStyle/>
          <a:p>
            <a:r>
              <a:rPr lang="en-US" dirty="0"/>
              <a:t>Plan dashboard layout before building — sketch key sections first.</a:t>
            </a:r>
          </a:p>
          <a:p>
            <a:r>
              <a:rPr lang="en-US" dirty="0"/>
              <a:t>Pivot charts link directly to pivot tables and update automatically.</a:t>
            </a:r>
          </a:p>
          <a:p>
            <a:r>
              <a:rPr lang="en-US" dirty="0"/>
              <a:t>Slicers connect to multiple pivot tables for unified interactivity.</a:t>
            </a:r>
          </a:p>
          <a:p>
            <a:r>
              <a:rPr lang="en-US" dirty="0"/>
              <a:t>Timeline slicers filter all connected charts by date period.</a:t>
            </a:r>
          </a:p>
          <a:p>
            <a:r>
              <a:rPr lang="en-US" dirty="0"/>
              <a:t>KPI cells display high-level metrics like total revenue prominently.</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Formatting and Finalizing Dashboards</a:t>
            </a:r>
          </a:p>
        </p:txBody>
      </p:sp>
      <p:sp>
        <p:nvSpPr>
          <p:cNvPr id="3" name="Content Placeholder 2"/>
          <p:cNvSpPr>
            <a:spLocks noGrp="1"/>
          </p:cNvSpPr>
          <p:nvPr>
            <p:ph idx="1"/>
          </p:nvPr>
        </p:nvSpPr>
        <p:spPr/>
        <p:txBody>
          <a:bodyPr/>
          <a:lstStyle/>
          <a:p>
            <a:r>
              <a:rPr lang="en-US" dirty="0"/>
              <a:t>Apply consistent fonts, colors, and spacing across all elements.</a:t>
            </a:r>
          </a:p>
          <a:p>
            <a:r>
              <a:rPr lang="en-US" dirty="0"/>
              <a:t>Remove gridlines and sheet tabs for a clean dashboard canvas.</a:t>
            </a:r>
          </a:p>
          <a:p>
            <a:r>
              <a:rPr lang="en-US" dirty="0"/>
              <a:t>Format charts by simplifying legends and adding data labels.</a:t>
            </a:r>
          </a:p>
          <a:p>
            <a:r>
              <a:rPr lang="en-US" dirty="0"/>
              <a:t>Protect the sheet to prevent accidental edits by users.</a:t>
            </a:r>
          </a:p>
          <a:p>
            <a:r>
              <a:rPr lang="en-US" dirty="0"/>
              <a:t>Enable one-click refresh to keep all data current instantly.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Dashboard Interactivity and Visual Design</a:t>
            </a:r>
          </a:p>
        </p:txBody>
      </p:sp>
      <p:sp>
        <p:nvSpPr>
          <p:cNvPr id="3" name="Content Placeholder 2"/>
          <p:cNvSpPr>
            <a:spLocks noGrp="1"/>
          </p:cNvSpPr>
          <p:nvPr>
            <p:ph idx="1"/>
          </p:nvPr>
        </p:nvSpPr>
        <p:spPr/>
        <p:txBody>
          <a:bodyPr/>
          <a:lstStyle/>
          <a:p>
            <a:r>
              <a:rPr lang="en-US" dirty="0"/>
              <a:t>Slicers provide clickable filter buttons for instant data segmentation.</a:t>
            </a:r>
          </a:p>
          <a:p>
            <a:r>
              <a:rPr lang="en-US" dirty="0"/>
              <a:t>Timelines let users filter by month, quarter, or year visually.</a:t>
            </a:r>
          </a:p>
          <a:p>
            <a:r>
              <a:rPr lang="en-US" dirty="0"/>
              <a:t>Place key metrics at the top; supporting detail below.</a:t>
            </a:r>
          </a:p>
          <a:p>
            <a:r>
              <a:rPr lang="en-US" dirty="0"/>
              <a:t>Consistent color schemes signal professionalism and reduce distraction.</a:t>
            </a:r>
          </a:p>
          <a:p>
            <a:r>
              <a:rPr lang="en-US" dirty="0"/>
              <a:t>Protect and finalize the dashboard before sharing with users.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Power Query</a:t>
            </a:r>
          </a:p>
        </p:txBody>
      </p:sp>
      <p:sp>
        <p:nvSpPr>
          <p:cNvPr id="3" name="Content Placeholder 2"/>
          <p:cNvSpPr>
            <a:spLocks noGrp="1"/>
          </p:cNvSpPr>
          <p:nvPr>
            <p:ph idx="1"/>
          </p:nvPr>
        </p:nvSpPr>
        <p:spPr/>
        <p:txBody>
          <a:bodyPr/>
          <a:lstStyle/>
          <a:p>
            <a:r>
              <a:rPr lang="en-US" dirty="0"/>
              <a:t>Power Query imports and transforms data from many sources automatically.</a:t>
            </a:r>
          </a:p>
          <a:p>
            <a:r>
              <a:rPr lang="en-US" dirty="0"/>
              <a:t>Supported sources include Excel, CSV, databases, web, and cloud.</a:t>
            </a:r>
          </a:p>
          <a:p>
            <a:r>
              <a:rPr lang="en-US" dirty="0"/>
              <a:t>Connect to external data through the Data tab Get Data menu.</a:t>
            </a:r>
          </a:p>
          <a:p>
            <a:r>
              <a:rPr lang="en-US" dirty="0"/>
              <a:t>The Power Query Editor is a dedicated data transformation workspace.</a:t>
            </a:r>
          </a:p>
          <a:p>
            <a:r>
              <a:rPr lang="en-US" dirty="0"/>
              <a:t>Refresh connections to re-import updated source data automatically.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Transformation with Power Query</a:t>
            </a:r>
          </a:p>
        </p:txBody>
      </p:sp>
      <p:sp>
        <p:nvSpPr>
          <p:cNvPr id="3" name="Content Placeholder 2"/>
          <p:cNvSpPr>
            <a:spLocks noGrp="1"/>
          </p:cNvSpPr>
          <p:nvPr>
            <p:ph idx="1"/>
          </p:nvPr>
        </p:nvSpPr>
        <p:spPr/>
        <p:txBody>
          <a:bodyPr/>
          <a:lstStyle/>
          <a:p>
            <a:r>
              <a:rPr lang="en-US" dirty="0"/>
              <a:t>Remove duplicates, blank rows, and error values with one click.</a:t>
            </a:r>
          </a:p>
          <a:p>
            <a:r>
              <a:rPr lang="en-US" dirty="0"/>
              <a:t>Split or merge columns to restructure raw data layouts.</a:t>
            </a:r>
          </a:p>
          <a:p>
            <a:r>
              <a:rPr lang="en-US" dirty="0"/>
              <a:t>Pivot and unpivot columns to reshape data for analysis.</a:t>
            </a:r>
          </a:p>
          <a:p>
            <a:r>
              <a:rPr lang="en-US" dirty="0"/>
              <a:t>Assign correct data types to ensure accurate calculations.</a:t>
            </a:r>
          </a:p>
          <a:p>
            <a:r>
              <a:rPr lang="en-US" dirty="0"/>
              <a:t>Add custom or conditional columns without writing sheet formulas.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Automating Data Preparation with Power Query</a:t>
            </a:r>
          </a:p>
        </p:txBody>
      </p:sp>
      <p:sp>
        <p:nvSpPr>
          <p:cNvPr id="3" name="Content Placeholder 2"/>
          <p:cNvSpPr>
            <a:spLocks noGrp="1"/>
          </p:cNvSpPr>
          <p:nvPr>
            <p:ph idx="1"/>
          </p:nvPr>
        </p:nvSpPr>
        <p:spPr/>
        <p:txBody>
          <a:bodyPr/>
          <a:lstStyle/>
          <a:p>
            <a:r>
              <a:rPr lang="en-US" dirty="0"/>
              <a:t>Every transformation step is recorded and replayable on refresh.</a:t>
            </a:r>
          </a:p>
          <a:p>
            <a:r>
              <a:rPr lang="en-US" dirty="0"/>
              <a:t>Edit or reorder steps in the Applied Steps pane anytime.</a:t>
            </a:r>
          </a:p>
          <a:p>
            <a:r>
              <a:rPr lang="en-US" dirty="0"/>
              <a:t>Merge queries to combine data from multiple sources into one.</a:t>
            </a:r>
          </a:p>
          <a:p>
            <a:r>
              <a:rPr lang="en-US" dirty="0"/>
              <a:t>Append queries to stack rows from similar datasets together.</a:t>
            </a:r>
          </a:p>
          <a:p>
            <a:r>
              <a:rPr lang="en-US" dirty="0"/>
              <a:t>Load query output to a worksheet table or Data Model.</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Automating Refresh Workflows</a:t>
            </a:r>
          </a:p>
        </p:txBody>
      </p:sp>
      <p:sp>
        <p:nvSpPr>
          <p:cNvPr id="3" name="Content Placeholder 2"/>
          <p:cNvSpPr>
            <a:spLocks noGrp="1"/>
          </p:cNvSpPr>
          <p:nvPr>
            <p:ph idx="1"/>
          </p:nvPr>
        </p:nvSpPr>
        <p:spPr/>
        <p:txBody>
          <a:bodyPr/>
          <a:lstStyle/>
          <a:p>
            <a:r>
              <a:rPr lang="en-US" dirty="0"/>
              <a:t>Data refresh pulls the latest source data into Excel automatically.</a:t>
            </a:r>
          </a:p>
          <a:p>
            <a:r>
              <a:rPr lang="en-US" dirty="0"/>
              <a:t>Set queries to refresh on workbook open via Connection Properties.</a:t>
            </a:r>
          </a:p>
          <a:p>
            <a:r>
              <a:rPr lang="en-US" dirty="0"/>
              <a:t>Schedule timed refresh intervals in Connection Properties settings.</a:t>
            </a:r>
          </a:p>
          <a:p>
            <a:r>
              <a:rPr lang="en-US" dirty="0"/>
              <a:t>Refresh All on the Data tab updates all queries simultaneously.</a:t>
            </a:r>
          </a:p>
          <a:p>
            <a:r>
              <a:rPr lang="en-US" dirty="0"/>
              <a:t>Pivot tables must connect to Power Query output tables to refresh.</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Refresh: VBA and Background Settings</a:t>
            </a:r>
          </a:p>
        </p:txBody>
      </p:sp>
      <p:sp>
        <p:nvSpPr>
          <p:cNvPr id="3" name="Content Placeholder 2"/>
          <p:cNvSpPr>
            <a:spLocks noGrp="1"/>
          </p:cNvSpPr>
          <p:nvPr>
            <p:ph idx="1"/>
          </p:nvPr>
        </p:nvSpPr>
        <p:spPr/>
        <p:txBody>
          <a:bodyPr/>
          <a:lstStyle/>
          <a:p>
            <a:r>
              <a:rPr lang="en-US" dirty="0"/>
              <a:t>VBA macros can trigger Power Query refresh programmatically.</a:t>
            </a:r>
          </a:p>
          <a:p>
            <a:r>
              <a:rPr lang="en-US" dirty="0"/>
              <a:t>Use Workbook_Open event to auto-refresh when file is opened.</a:t>
            </a:r>
          </a:p>
          <a:p>
            <a:r>
              <a:rPr lang="en-US" dirty="0"/>
              <a:t>Background refresh keeps Excel responsive during long query runs.</a:t>
            </a:r>
          </a:p>
          <a:p>
            <a:r>
              <a:rPr lang="en-US" dirty="0"/>
              <a:t>Disable background refresh when using VBA to avoid timing conflicts.</a:t>
            </a:r>
          </a:p>
          <a:p>
            <a:r>
              <a:rPr lang="en-US" dirty="0"/>
              <a:t>Test refresh workflows end-to-end before sharing with stakeholders.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Pivot tables summarize large datasets quickly without formulas.</a:t>
            </a:r>
          </a:p>
          <a:p>
            <a:r>
              <a:rPr lang="en-US" dirty="0"/>
              <a:t>Advanced features include calculated fields, grouping, and slicers.</a:t>
            </a:r>
          </a:p>
          <a:p>
            <a:r>
              <a:rPr lang="en-US" dirty="0"/>
              <a:t>Dashboards combine pivot charts, slicers, and KPI cells interactively.</a:t>
            </a:r>
          </a:p>
          <a:p>
            <a:r>
              <a:rPr lang="en-US" dirty="0"/>
              <a:t>Power Query imports and cleans data from diverse sources automatically.</a:t>
            </a:r>
          </a:p>
          <a:p>
            <a:r>
              <a:rPr lang="en-US" dirty="0"/>
              <a:t>Refresh workflows ensure dashboards always display the latest data.</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Pivot Tables, Dashboards, and Power Query in Excel</dc:title>
  <dc:creator>PreseMaker</dc:creator>
  <cp:lastModifiedBy>PreseMaker</cp:lastModifiedBy>
  <dcterms:created xsi:type="dcterms:W3CDTF">2026-07-03T17:56:45Z</dcterms:created>
  <dcterms:modified xsi:type="dcterms:W3CDTF">2026-07-03T17:56:45Z</dcterms:modified>
</cp:coreProperties>
</file>
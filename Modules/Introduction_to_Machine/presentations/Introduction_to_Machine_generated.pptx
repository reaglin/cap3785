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theme/theme2.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type="custom"/>
  <p:notesSz cx="6858000" cy="9144000"/>
</p:presentation>
</file>

<file path=ppt/presProps.xml><?xml version="1.0" encoding="utf-8"?>
<p:presentationPr xmlns:a="http://schemas.openxmlformats.org/drawingml/2006/main" xmlns:p="http://schemas.openxmlformats.org/presentationml/2006/main">
  <p:extLst>
    <p:ext uri="{E76CE94A-603C-4142-B9EB-6D1370010A27}">
      <p14:discardImageEditData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11"/>
    <p:restoredTop sz="94610"/>
  </p:normalViewPr>
  <p:slideViewPr>
    <p:cSldViewPr snapToGrid="0">
      <p:cViewPr varScale="1">
        <p:scale>
          <a:sx n="64" d="100"/>
          <a:sy n="64" d="100"/>
        </p:scale>
        <p:origin x="-1236" y="-114"/>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r>
              <a:t/>
            </a:r>
          </a:p>
        </p:txBody>
      </p:sp>
    </p:spTree>
  </p:cSld>
  <p:clrMap bg1="lt1" tx1="dk1" bg2="lt2" tx2="dk2" accent1="accent1" accent2="accent2" accent3="accent3" accent4="accent4" accent5="accent5" accent6="accent6" hlink="hlink" folHlink="folHlink"/>
  <p:txStyles>
    <p:bodyStyle/>
    <p:otherStyle/>
  </p:txStyles>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students to the course. This presentation covers the foundational concepts of machine learning and connects them directly to practical business analytics applications. By the end, students will understand key algorithms, evaluation methods, and how to apply ML techniques in realistic business scenarios.</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Machine learning is a branch of artificial intelligence where systems improve performance through experience rather than explicit programming. Unlike traditional programming, where developers write every rule, ML inverts the process — it derives rules from data. Core vocabulary includes features (inputs), labels (target outputs), models (learned functions), training (fitting the model), and inference (applying it). ML problems split broadly into supervised (labeled data), unsupervised (unlabeled data), and reinforcement learning. In business analytics, ML extends descriptive reporting to predictive and prescriptive capabilities, allowing organizations to act on data at scale.</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Every ML project follows a structured end-to-end workflow. It begins with problem definition — understanding what business question needs to be answered and what success looks like. Data collection and preparation typically consume the most time. Model selection depends on problem type and data characteristics. Evaluation ensures the model generalizes beyond training data. Finally, deployment puts the model into production, and ongoing monitoring catches performance degradation over time. This workflow will serve as the backbone for the hands-on project later in the course.</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Supervised learning uses labeled datasets where each example has a known output, enabling the model to learn mappings from inputs to outputs. Unsupervised learning receives no labels and must find hidden patterns or groupings on its own. The presence or absence of labeled data is the defining distinction. Choosing the right paradigm depends on the business question: if you need to predict a specific outcome, supervised learning applies; if you need to understand data structure before defining a prediction task, unsupervised is the starting point. Evaluating success also differs — supervised models are measured on prediction accuracy, while unsupervised models are assessed on cluster quality or interpretability.</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Supervised learning powers high-impact business use cases where a labeled outcome exists — predicting whether a customer will churn, scoring creditworthiness, or forecasting sales. Unsupervised learning is most valuable early in an analytics initiative when the data landscape is not yet fully understood — for example, segmenting customers into groups before building targeted campaigns. In practice, many analytics pipelines use both: unsupervised methods explore and structure data, and supervised methods then build predictive models on top of those structures.</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Linear regression is a supervised algorithm modeling the linear relationship between a continuous target variable and predictor features — ideal for forecasting revenue or prices. Decision trees are supervised algorithms that recursively partition data based on feature thresholds, producing interpretable if-then rules at each leaf node — well-suited for classification tasks like loan approval. K-means is an unsupervised algorithm that assigns each data point to one of k clusters by minimizing within-cluster distance — commonly used for customer segmentation. Selecting the right algorithm requires knowing whether labels exist, whether the output is continuous or categorical, and what level of interpretability stakeholders require.</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Each algorithm has a distinct set of high-value business applications. Linear regression is used when the target is a continuous number — forecasting next quarter's sales or estimating a property's market value. Decision trees excel when the outcome is categorical and stakeholders need to understand the logic — credit risk classification or predicting which customers will respond to a promotion. K-means is applied when no labels exist and the goal is discovery — grouping customers by purchasing behavior before designing marketing campaigns. Analysts must match the algorithm to the nature of the business problem, the data available, and the interpretability expected by decision-makers.</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Model evaluation is critical because a model that performs well on training data may fail on new data. Accuracy is the simplest metric — total correct predictions divided by total predictions — but it is misleading when class imbalance exists. Precision measures how many positive predictions were actually correct, minimizing false alarms. Recall measures how many actual positives were correctly identified, minimizing missed cases. The trade-off between precision and recall must be calibrated to business consequences. For regression models predicting continuous values like revenue or lifetime value, classification metrics do not apply; instead, Mean Absolute Error, Mean Squared Error, and Root Mean Squared Error quantify average prediction distance from the true value.</a:t>
            </a:r>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 confusion matrix is a table that breaks down classification predictions into four cells: true positives (correctly predicted positive), true negatives (correctly predicted negative), false positives (predicted positive but actually negative), and false negatives (predicted negative but actually positive). Precision and recall are computed directly from these cells. To generate reliable metrics, models must be evaluated on data they were not trained on — the train-test split holds out a portion of data (typically 20–30%) for testing. Cross-validation goes further by partitioning data into k folds and rotating which fold is held out, producing a more robust performance estimate. Evaluation results should be interpreted in business context and used to decide whether to tune, retrain, or replace a model.</a:t>
            </a:r>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Machine learning delivers competitive advantage across core business functions. Customer segmentation using clustering algorithms reveals natural groupings — demographics, spending behavior, engagement levels — enabling personalized marketing at scale. Sales forecasting with supervised learning models historical patterns to project future demand, improving inventory planning and staffing decisions. Fraud detection models learn what legitimate transactions look like and flag deviations in real time across millions of records. Credit risk models score applicants based on features correlated with default, enabling faster and more consistent lending decisions. Beyond individual use cases, embedding ML into organizational workflows creates a self-reinforcing advantage: better data leads to better models, which generate better decisions and more data.</a:t>
            </a:r>
          </a:p>
        </p:txBody>
      </p:sp>
    </p:spTree>
  </p:cSld>
  <p:clrMapOvr>
    <a:masterClrMapping/>
  </p:clrMapOvr>
</p:notes>
</file>

<file path=ppt/notesSlides/notesSlide1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Algorithm selection is one of the most consequential decisions in any ML project. The first question is whether labeled training data exists — if so, supervised algorithms such as linear regression or decision trees apply; if not, unsupervised methods like k-means are appropriate. Next, consider the output type: continuous numerical targets call for regression, while categorical outcomes require classification algorithms. Stakeholder interpretability needs matter — a decision tree's if-then logic is easier to explain in a boardroom than a complex ensemble model. Finally, the 'best' model is the one that maximizes business value within constraints of time, data, and interpretability — not necessarily the most sophisticated algorithm available.</a:t>
            </a:r>
          </a:p>
        </p:txBody>
      </p:sp>
    </p:spTree>
  </p:cSld>
  <p:clrMapOvr>
    <a:masterClrMapping/>
  </p:clrMapOvr>
</p:notes>
</file>

<file path=ppt/notesSlides/notesSlide1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 successful analytics project begins with a precise business question — vague questions produce unusable models. Once the question is defined, analysts identify what data is needed, where it comes from, and how much is available. Data preparation is typically the most labor-intensive phase: handling missing values, removing duplicates, encoding categorical variables, and scaling features. Exploratory Data Analysis (EDA) follows — using summary statistics, histograms, scatter plots, and correlation matrices to understand the data's shape, spot anomalies, and discover relationships between variables. EDA is not optional; it directly informs which features to include and which algorithm families are appropriate.</a:t>
            </a:r>
          </a:p>
        </p:txBody>
      </p:sp>
    </p:spTree>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After EDA, analysts select and train a model, tuning hyperparameters through cross-validation to optimize performance. Evaluation metrics must be chosen to reflect business impact — for example, recall may matter more than accuracy in a fraud detection scenario where missing a fraudulent transaction is costly. Results should be communicated through clear visualizations and plain-language summaries, avoiding jargon when presenting to non-technical decision-makers. The goal is not to impress with statistical complexity but to enable stakeholders to take confident, data-informed action. A technically excellent model that cannot be understood or trusted by decision-makers delivers no business value.</a:t>
            </a:r>
          </a:p>
        </p:txBody>
      </p:sp>
    </p:spTree>
  </p:cSld>
  <p:clrMapOvr>
    <a:masterClrMapping/>
  </p:clrMapOvr>
</p:notes>
</file>

<file path=ppt/notesSlides/notesSlide1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Reviewing the complete project lifecycle helps consolidate learning. Students should understand that the workflow is iterative, not linear — new EDA findings may require redefining the problem, and poor evaluation results may send analysts back to feature engineering. Documentation at every stage is critical for reproducibility and stakeholder trust. After deployment, models must be monitored because real-world data distributions shift over time, degrading performance — a phenomenon called model drift. Embracing iteration, documentation, and monitoring as professional habits prepares students to apply the workflow effectively in real business settings.</a:t>
            </a:r>
          </a:p>
        </p:txBody>
      </p:sp>
    </p:spTree>
  </p:cSld>
  <p:clrMapOvr>
    <a:masterClrMapping/>
  </p:clrMapOvr>
</p:notes>
</file>

<file path=ppt/notesSlides/notesSlide1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This presentation covered the full arc of machine learning for business analytics. We established what machine learning is and how it differs from traditional programming, introduced the supervised and unsupervised paradigms and their business applications, surveyed key algorithms — linear regression, decision trees, and k-means clustering — and connected them to practical use cases such as sales forecasting, customer segmentation, and fraud detection. We explored how to evaluate models rigorously using metrics aligned to business goals, and we walked through the complete end-to-end analytics project workflow from problem definition through stakeholder communication. Students should leave with both the conceptual vocabulary and the practical framework to engage confidently with machine learning projects in business contexts.</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Machine Learning for Business Analytics</a:t>
            </a:r>
          </a:p>
        </p:txBody>
      </p:sp>
      <p:sp>
        <p:nvSpPr>
          <p:cNvPr id="3" name="Content Placeholder 2"/>
          <p:cNvSpPr>
            <a:spLocks noGrp="1"/>
          </p:cNvSpPr>
          <p:nvPr>
            <p:ph idx="1"/>
          </p:nvPr>
        </p:nvSpPr>
        <p:spPr/>
        <p:txBody>
          <a:bodyPr/>
          <a:lstStyle/>
          <a:p>
            <a:pPr algn="ctr">
              <a:buNone/>
            </a:pPr>
            <a:r>
              <a:rPr lang="en-US" dirty="0"/>
              <a:t>Exploring how machine learning drives smarter, data-driven business decisions.</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Foundations of Machine Learning</a:t>
            </a:r>
          </a:p>
        </p:txBody>
      </p:sp>
      <p:sp>
        <p:nvSpPr>
          <p:cNvPr id="3" name="Content Placeholder 2"/>
          <p:cNvSpPr>
            <a:spLocks noGrp="1"/>
          </p:cNvSpPr>
          <p:nvPr>
            <p:ph idx="1"/>
          </p:nvPr>
        </p:nvSpPr>
        <p:spPr/>
        <p:txBody>
          <a:bodyPr/>
          <a:lstStyle/>
          <a:p>
            <a:r>
              <a:rPr lang="en-US" dirty="0"/>
              <a:t>ML systems learn patterns from data automatically</a:t>
            </a:r>
          </a:p>
          <a:p>
            <a:r>
              <a:rPr lang="en-US" dirty="0"/>
              <a:t>Rules are derived from data, not manually coded</a:t>
            </a:r>
          </a:p>
          <a:p>
            <a:r>
              <a:rPr lang="en-US" dirty="0"/>
              <a:t>Key terms: features, labels, models, training, inference</a:t>
            </a:r>
          </a:p>
          <a:p>
            <a:r>
              <a:rPr lang="en-US" dirty="0"/>
              <a:t>Three types: supervised, unsupervised, reinforcement learning</a:t>
            </a:r>
          </a:p>
          <a:p>
            <a:r>
              <a:rPr lang="en-US" dirty="0"/>
              <a:t>ML enables predictions and automated decisions at scale</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Machine Learning Workflow</a:t>
            </a:r>
          </a:p>
        </p:txBody>
      </p:sp>
      <p:sp>
        <p:nvSpPr>
          <p:cNvPr id="3" name="Content Placeholder 2"/>
          <p:cNvSpPr>
            <a:spLocks noGrp="1"/>
          </p:cNvSpPr>
          <p:nvPr>
            <p:ph idx="1"/>
          </p:nvPr>
        </p:nvSpPr>
        <p:spPr/>
        <p:txBody>
          <a:bodyPr/>
          <a:lstStyle/>
          <a:p>
            <a:r>
              <a:rPr lang="en-US" dirty="0"/>
              <a:t>Step 1: Define the business problem clearly</a:t>
            </a:r>
          </a:p>
          <a:p>
            <a:r>
              <a:rPr lang="en-US" dirty="0"/>
              <a:t>Step 2: Collect and prepare relevant data</a:t>
            </a:r>
          </a:p>
          <a:p>
            <a:r>
              <a:rPr lang="en-US" dirty="0"/>
              <a:t>Step 3: Select, train, and tune a model</a:t>
            </a:r>
          </a:p>
          <a:p>
            <a:r>
              <a:rPr lang="en-US" dirty="0"/>
              <a:t>Step 4: Evaluate performance with appropriate metrics</a:t>
            </a:r>
          </a:p>
          <a:p>
            <a:r>
              <a:rPr lang="en-US" dirty="0"/>
              <a:t>Step 5: Deploy, monitor, and iterate continuously</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Supervised vs. Unsupervised Learning</a:t>
            </a:r>
          </a:p>
        </p:txBody>
      </p:sp>
      <p:sp>
        <p:nvSpPr>
          <p:cNvPr id="3" name="Content Placeholder 2"/>
          <p:cNvSpPr>
            <a:spLocks noGrp="1"/>
          </p:cNvSpPr>
          <p:nvPr>
            <p:ph idx="1"/>
          </p:nvPr>
        </p:nvSpPr>
        <p:spPr/>
        <p:txBody>
          <a:bodyPr/>
          <a:lstStyle/>
          <a:p>
            <a:r>
              <a:rPr lang="en-US" dirty="0"/>
              <a:t>Supervised: algorithms trained on labeled input-output pairs</a:t>
            </a:r>
          </a:p>
          <a:p>
            <a:r>
              <a:rPr lang="en-US" dirty="0"/>
              <a:t>Unsupervised: algorithms discover structure in unlabeled data</a:t>
            </a:r>
          </a:p>
          <a:p>
            <a:r>
              <a:rPr lang="en-US" dirty="0"/>
              <a:t>Labeled data enables prediction; unlabeled enables exploration</a:t>
            </a:r>
          </a:p>
          <a:p>
            <a:r>
              <a:rPr lang="en-US" dirty="0"/>
              <a:t>Choose based on business question and data availability</a:t>
            </a:r>
          </a:p>
          <a:p>
            <a:r>
              <a:rPr lang="en-US" dirty="0"/>
              <a:t>Different goals require fundamentally different success metrics</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Applications of Each Learning Paradigm</a:t>
            </a:r>
          </a:p>
        </p:txBody>
      </p:sp>
      <p:sp>
        <p:nvSpPr>
          <p:cNvPr id="3" name="Content Placeholder 2"/>
          <p:cNvSpPr>
            <a:spLocks noGrp="1"/>
          </p:cNvSpPr>
          <p:nvPr>
            <p:ph idx="1"/>
          </p:nvPr>
        </p:nvSpPr>
        <p:spPr/>
        <p:txBody>
          <a:bodyPr/>
          <a:lstStyle/>
          <a:p>
            <a:r>
              <a:rPr lang="en-US" dirty="0"/>
              <a:t>Supervised: churn prediction, credit scoring, demand forecasting</a:t>
            </a:r>
          </a:p>
          <a:p>
            <a:r>
              <a:rPr lang="en-US" dirty="0"/>
              <a:t>Unsupervised: customer segmentation, anomaly detection, topic modeling</a:t>
            </a:r>
          </a:p>
          <a:p>
            <a:r>
              <a:rPr lang="en-US" dirty="0"/>
              <a:t>Supervised delivers specific, actionable outcome predictions</a:t>
            </a:r>
          </a:p>
          <a:p>
            <a:r>
              <a:rPr lang="en-US" dirty="0"/>
              <a:t>Unsupervised reveals structure before problems are fully defined</a:t>
            </a:r>
          </a:p>
          <a:p>
            <a:r>
              <a:rPr lang="en-US" dirty="0"/>
              <a:t>Both paradigms complement each other in analytics pipelines</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Machine Learning Algorithms</a:t>
            </a:r>
          </a:p>
        </p:txBody>
      </p:sp>
      <p:sp>
        <p:nvSpPr>
          <p:cNvPr id="3" name="Content Placeholder 2"/>
          <p:cNvSpPr>
            <a:spLocks noGrp="1"/>
          </p:cNvSpPr>
          <p:nvPr>
            <p:ph idx="1"/>
          </p:nvPr>
        </p:nvSpPr>
        <p:spPr/>
        <p:txBody>
          <a:bodyPr/>
          <a:lstStyle/>
          <a:p>
            <a:r>
              <a:rPr lang="en-US" dirty="0"/>
              <a:t>Linear regression predicts continuous numerical outcomes</a:t>
            </a:r>
          </a:p>
          <a:p>
            <a:r>
              <a:rPr lang="en-US" dirty="0"/>
              <a:t>Decision trees split data by feature values into branches</a:t>
            </a:r>
          </a:p>
          <a:p>
            <a:r>
              <a:rPr lang="en-US" dirty="0"/>
              <a:t>K-means clusters data points into k similar groups</a:t>
            </a:r>
          </a:p>
          <a:p>
            <a:r>
              <a:rPr lang="en-US" dirty="0"/>
              <a:t>Algorithm choice depends on problem type and data</a:t>
            </a:r>
          </a:p>
          <a:p>
            <a:r>
              <a:rPr lang="en-US" dirty="0"/>
              <a:t>Each algorithm suits distinct business scenarios</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Practical Business Uses of Key Algorithms</a:t>
            </a:r>
          </a:p>
        </p:txBody>
      </p:sp>
      <p:sp>
        <p:nvSpPr>
          <p:cNvPr id="3" name="Content Placeholder 2"/>
          <p:cNvSpPr>
            <a:spLocks noGrp="1"/>
          </p:cNvSpPr>
          <p:nvPr>
            <p:ph idx="1"/>
          </p:nvPr>
        </p:nvSpPr>
        <p:spPr/>
        <p:txBody>
          <a:bodyPr/>
          <a:lstStyle/>
          <a:p>
            <a:r>
              <a:rPr lang="en-US" dirty="0"/>
              <a:t>Linear regression: sales forecasting, price optimization</a:t>
            </a:r>
          </a:p>
          <a:p>
            <a:r>
              <a:rPr lang="en-US" dirty="0"/>
              <a:t>Decision trees: loan approval, churn classification</a:t>
            </a:r>
          </a:p>
          <a:p>
            <a:r>
              <a:rPr lang="en-US" dirty="0"/>
              <a:t>K-means: customer segmentation, product grouping</a:t>
            </a:r>
          </a:p>
          <a:p>
            <a:r>
              <a:rPr lang="en-US" dirty="0"/>
              <a:t>Match algorithm to business question for maximum value</a:t>
            </a:r>
          </a:p>
          <a:p>
            <a:r>
              <a:rPr lang="en-US" dirty="0"/>
              <a:t>Interpretability requirements influence algorithm selection</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 Evaluation and Performance Metrics</a:t>
            </a:r>
          </a:p>
        </p:txBody>
      </p:sp>
      <p:sp>
        <p:nvSpPr>
          <p:cNvPr id="3" name="Content Placeholder 2"/>
          <p:cNvSpPr>
            <a:spLocks noGrp="1"/>
          </p:cNvSpPr>
          <p:nvPr>
            <p:ph idx="1"/>
          </p:nvPr>
        </p:nvSpPr>
        <p:spPr/>
        <p:txBody>
          <a:bodyPr/>
          <a:lstStyle/>
          <a:p>
            <a:r>
              <a:rPr lang="en-US" dirty="0"/>
              <a:t>Evaluation measures model performance on unseen data</a:t>
            </a:r>
          </a:p>
          <a:p>
            <a:r>
              <a:rPr lang="en-US" dirty="0"/>
              <a:t>Accuracy: proportion of correct predictions overall</a:t>
            </a:r>
          </a:p>
          <a:p>
            <a:r>
              <a:rPr lang="en-US" dirty="0"/>
              <a:t>Precision targets false positives; recall targets false negatives</a:t>
            </a:r>
          </a:p>
          <a:p>
            <a:r>
              <a:rPr lang="en-US" dirty="0"/>
              <a:t>Regression uses MAE, MSE, and RMSE error measures</a:t>
            </a:r>
          </a:p>
          <a:p>
            <a:r>
              <a:rPr lang="en-US" dirty="0"/>
              <a:t>Wrong metric choice leads to costly business decisions</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Confusion Matrix, Train-Test Split, and Cross-Validation</a:t>
            </a:r>
          </a:p>
        </p:txBody>
      </p:sp>
      <p:sp>
        <p:nvSpPr>
          <p:cNvPr id="3" name="Content Placeholder 2"/>
          <p:cNvSpPr>
            <a:spLocks noGrp="1"/>
          </p:cNvSpPr>
          <p:nvPr>
            <p:ph idx="1"/>
          </p:nvPr>
        </p:nvSpPr>
        <p:spPr/>
        <p:txBody>
          <a:bodyPr/>
          <a:lstStyle/>
          <a:p>
            <a:r>
              <a:rPr lang="en-US" dirty="0"/>
              <a:t>Confusion matrix shows TP, TN, FP, and FN counts</a:t>
            </a:r>
          </a:p>
          <a:p>
            <a:r>
              <a:rPr lang="en-US" dirty="0"/>
              <a:t>Provides the foundation for precision and recall calculations</a:t>
            </a:r>
          </a:p>
          <a:p>
            <a:r>
              <a:rPr lang="en-US" dirty="0"/>
              <a:t>Train-test split reserves held-out data for evaluation</a:t>
            </a:r>
          </a:p>
          <a:p>
            <a:r>
              <a:rPr lang="en-US" dirty="0"/>
              <a:t>Cross-validation averages performance across multiple folds</a:t>
            </a:r>
          </a:p>
          <a:p>
            <a:r>
              <a:rPr lang="en-US" dirty="0"/>
              <a:t>Evaluation results should drive iterative model improvements</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Machine Learning Applications in Business</a:t>
            </a:r>
          </a:p>
        </p:txBody>
      </p:sp>
      <p:sp>
        <p:nvSpPr>
          <p:cNvPr id="3" name="Content Placeholder 2"/>
          <p:cNvSpPr>
            <a:spLocks noGrp="1"/>
          </p:cNvSpPr>
          <p:nvPr>
            <p:ph idx="1"/>
          </p:nvPr>
        </p:nvSpPr>
        <p:spPr/>
        <p:txBody>
          <a:bodyPr/>
          <a:lstStyle/>
          <a:p>
            <a:r>
              <a:rPr lang="en-US" dirty="0"/>
              <a:t>Customer segmentation: cluster customers by shared behavior</a:t>
            </a:r>
          </a:p>
          <a:p>
            <a:r>
              <a:rPr lang="en-US" dirty="0"/>
              <a:t>Sales forecasting: predict future demand from historical data</a:t>
            </a:r>
          </a:p>
          <a:p>
            <a:r>
              <a:rPr lang="en-US" dirty="0"/>
              <a:t>Fraud detection: flag anomalous transactional patterns</a:t>
            </a:r>
          </a:p>
          <a:p>
            <a:r>
              <a:rPr lang="en-US" dirty="0"/>
              <a:t>Risk analysis: score likelihood of default or adverse events</a:t>
            </a:r>
          </a:p>
          <a:p>
            <a:r>
              <a:rPr lang="en-US" dirty="0"/>
              <a:t>ML embeds data-driven insight into organizational strategy</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Selecting the Right Algorithm for a Business Problem</a:t>
            </a:r>
          </a:p>
        </p:txBody>
      </p:sp>
      <p:sp>
        <p:nvSpPr>
          <p:cNvPr id="3" name="Content Placeholder 2"/>
          <p:cNvSpPr>
            <a:spLocks noGrp="1"/>
          </p:cNvSpPr>
          <p:nvPr>
            <p:ph idx="1"/>
          </p:nvPr>
        </p:nvSpPr>
        <p:spPr/>
        <p:txBody>
          <a:bodyPr/>
          <a:lstStyle/>
          <a:p>
            <a:r>
              <a:rPr lang="en-US" dirty="0"/>
              <a:t>Labeled data available? Use supervised learning algorithms</a:t>
            </a:r>
          </a:p>
          <a:p>
            <a:r>
              <a:rPr lang="en-US" dirty="0"/>
              <a:t>No labels? Apply unsupervised discovery methods first</a:t>
            </a:r>
          </a:p>
          <a:p>
            <a:r>
              <a:rPr lang="en-US" dirty="0"/>
              <a:t>Continuous output needs regression; categorical needs classification</a:t>
            </a:r>
          </a:p>
          <a:p>
            <a:r>
              <a:rPr lang="en-US" dirty="0"/>
              <a:t>Interpretability requirements may limit algorithm choices</a:t>
            </a:r>
          </a:p>
          <a:p>
            <a:r>
              <a:rPr lang="en-US" dirty="0"/>
              <a:t>Business impact, not complexity, defines the best model</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End-to-End Analytics Project: Problem Definition to EDA</a:t>
            </a:r>
          </a:p>
        </p:txBody>
      </p:sp>
      <p:sp>
        <p:nvSpPr>
          <p:cNvPr id="3" name="Content Placeholder 2"/>
          <p:cNvSpPr>
            <a:spLocks noGrp="1"/>
          </p:cNvSpPr>
          <p:nvPr>
            <p:ph idx="1"/>
          </p:nvPr>
        </p:nvSpPr>
        <p:spPr/>
        <p:txBody>
          <a:bodyPr/>
          <a:lstStyle/>
          <a:p>
            <a:r>
              <a:rPr lang="en-US" dirty="0"/>
              <a:t>Clearly define the business question before collecting data</a:t>
            </a:r>
          </a:p>
          <a:p>
            <a:r>
              <a:rPr lang="en-US" dirty="0"/>
              <a:t>Identify required data sources, types, and volumes</a:t>
            </a:r>
          </a:p>
          <a:p>
            <a:r>
              <a:rPr lang="en-US" dirty="0"/>
              <a:t>Clean, transform, and encode raw data for modeling</a:t>
            </a:r>
          </a:p>
          <a:p>
            <a:r>
              <a:rPr lang="en-US" dirty="0"/>
              <a:t>EDA uncovers distributions, outliers, and variable relationships</a:t>
            </a:r>
          </a:p>
          <a:p>
            <a:r>
              <a:rPr lang="en-US" dirty="0"/>
              <a:t>EDA findings directly inform feature and algorithm choices</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End-to-End Analytics Project: Modeling to Communication</a:t>
            </a:r>
          </a:p>
        </p:txBody>
      </p:sp>
      <p:sp>
        <p:nvSpPr>
          <p:cNvPr id="3" name="Content Placeholder 2"/>
          <p:cNvSpPr>
            <a:spLocks noGrp="1"/>
          </p:cNvSpPr>
          <p:nvPr>
            <p:ph idx="1"/>
          </p:nvPr>
        </p:nvSpPr>
        <p:spPr/>
        <p:txBody>
          <a:bodyPr/>
          <a:lstStyle/>
          <a:p>
            <a:r>
              <a:rPr lang="en-US" dirty="0"/>
              <a:t>Select algorithm based on problem type and data characteristics</a:t>
            </a:r>
          </a:p>
          <a:p>
            <a:r>
              <a:rPr lang="en-US" dirty="0"/>
              <a:t>Train model and tune hyperparameters systematically</a:t>
            </a:r>
          </a:p>
          <a:p>
            <a:r>
              <a:rPr lang="en-US" dirty="0"/>
              <a:t>Evaluate using business-relevant metrics, not defaults</a:t>
            </a:r>
          </a:p>
          <a:p>
            <a:r>
              <a:rPr lang="en-US" dirty="0"/>
              <a:t>Visualize results clearly for non-technical stakeholders</a:t>
            </a:r>
          </a:p>
          <a:p>
            <a:r>
              <a:rPr lang="en-US" dirty="0"/>
              <a:t>Insights must drive action to deliver real business value</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Reflecting on the End-to-End Workflow</a:t>
            </a:r>
          </a:p>
        </p:txBody>
      </p:sp>
      <p:sp>
        <p:nvSpPr>
          <p:cNvPr id="3" name="Content Placeholder 2"/>
          <p:cNvSpPr>
            <a:spLocks noGrp="1"/>
          </p:cNvSpPr>
          <p:nvPr>
            <p:ph idx="1"/>
          </p:nvPr>
        </p:nvSpPr>
        <p:spPr/>
        <p:txBody>
          <a:bodyPr/>
          <a:lstStyle/>
          <a:p>
            <a:r>
              <a:rPr lang="en-US" dirty="0"/>
              <a:t>Each project phase builds directly on the previous one</a:t>
            </a:r>
          </a:p>
          <a:p>
            <a:r>
              <a:rPr lang="en-US" dirty="0"/>
              <a:t>Iteration is normal — revisit earlier phases as needed</a:t>
            </a:r>
          </a:p>
          <a:p>
            <a:r>
              <a:rPr lang="en-US" dirty="0"/>
              <a:t>Document decisions, assumptions, and model limitations</a:t>
            </a:r>
          </a:p>
          <a:p>
            <a:r>
              <a:rPr lang="en-US" dirty="0"/>
              <a:t>Monitor deployed models for performance drift over time</a:t>
            </a:r>
          </a:p>
          <a:p>
            <a:r>
              <a:rPr lang="en-US" dirty="0"/>
              <a:t>Real-world projects are messy; structured workflows reduce risk</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and Key Takeaways</a:t>
            </a:r>
          </a:p>
        </p:txBody>
      </p:sp>
      <p:sp>
        <p:nvSpPr>
          <p:cNvPr id="3" name="Content Placeholder 2"/>
          <p:cNvSpPr>
            <a:spLocks noGrp="1"/>
          </p:cNvSpPr>
          <p:nvPr>
            <p:ph idx="1"/>
          </p:nvPr>
        </p:nvSpPr>
        <p:spPr/>
        <p:txBody>
          <a:bodyPr/>
          <a:lstStyle/>
          <a:p>
            <a:r>
              <a:rPr lang="en-US" dirty="0"/>
              <a:t>ML learns patterns from data without explicit programming</a:t>
            </a:r>
          </a:p>
          <a:p>
            <a:r>
              <a:rPr lang="en-US" dirty="0"/>
              <a:t>Supervised predicts outcomes; unsupervised discovers structure</a:t>
            </a:r>
          </a:p>
          <a:p>
            <a:r>
              <a:rPr lang="en-US" dirty="0"/>
              <a:t>Algorithm choice depends on data, problem, and interpretability</a:t>
            </a:r>
          </a:p>
          <a:p>
            <a:r>
              <a:rPr lang="en-US" dirty="0"/>
              <a:t>Evaluation metrics must align with real business consequences</a:t>
            </a:r>
          </a:p>
          <a:p>
            <a:r>
              <a:rPr lang="en-US" dirty="0"/>
              <a:t>End-to-end workflow connects insight to strategic action</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PreseMaker</Application>
  <Slides>15</Slide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Introduction to Machine Learning for Business Analytics</dc:title>
  <dc:creator>PreseMaker</dc:creator>
  <cp:lastModifiedBy>PreseMaker</cp:lastModifiedBy>
  <dcterms:created xsi:type="dcterms:W3CDTF">2026-07-03T18:07:32Z</dcterms:created>
  <dcterms:modified xsi:type="dcterms:W3CDTF">2026-07-03T18:07:32Z</dcterms:modified>
</cp:coreProperties>
</file>
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everyone. This presentation introduces the foundational principles of data quality and data cleaning — two of the most critical skills for any data analyst or data scientist. We will move through key concepts systematically, from understanding what data quality means, to identifying and resolving common data problems, and finally preparing a clean dataset for downstream analysis. These concepts are directly applicable to real-world analytical workflows.</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Data quality refers to the degree to which a dataset is suitable for analysis, decision-making, or reporting. The reliability of any analysis depends entirely on the quality of the underlying data — garbage in, garbage out. Accuracy reflects how well data matches real-world values. Completeness measures whether all required values are present. Consistency ensures values are uniform across records and time. Reliability refers to whether a data source produces stable, trustworthy results under the same conditions. Importantly, these dimensions do not exist in isolation — a dataset can be accurate but incomplete, or consistent but inaccurate. A comprehensive quality assessment must evaluate all four together.</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Missing values occur when no data is recorded for a variable in an observation. They are classified into three mechanisms: MCAR (Missing Completely At Random) means missingness is unrelated to any variable; MAR (Missing At Random) means missingness is related to other observed variables; and MNAR (Missing Not At Random) means the missingness is related to the unobserved value itself — the hardest to handle. Before choosing a resolution strategy, analysts must detect and quantify missing data across all columns and rows. Ignoring missing values can distort summaries, bias model outputs, and reduce the effective sample size. Documenting which variables are affected, how much is missing, and why it is missing is essential for transparency with stakeholders.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Duplicate records occur when the same data entry appears more than once, either as exact copies or near-identical rows with minor variations. They commonly arise from merging datasets from multiple systems, repeated manual data entry, or errors in ETL (Extract, Transform, Load) pipelines. Detection is the first critical phase and typically combines automated deduplication tools with analyst judgment and domain knowledge. Once identified, analysts must decide how to resolve duplicates — which record to keep, how to merge conflicting fields, and how business rules apply. Unresolved duplicates can inflate counts, skew averages, and cause machine learning models to overfit on repeated observations. Prevention through data governance and thorough documentation of all decisions is best practice.</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Outliers are data points that fall far outside the expected distribution and can distort statistical summaries and model performance if not addressed. Statistical detection methods include the Z-score (values beyond ±3 standard deviations), the Interquartile Range (IQR) method, and the modified Z-score for skewed data. Visual techniques such as box plots, scatter plots, and histograms provide an intuitive complement to statistical methods. Removing outliers should never be automatic — it must be context-driven. In some cases, transformation techniques like log-scaling can reduce the influence of extreme values without discarding data. In fraud detection or rare event analysis, outliers are precisely what analysts are looking for and must be retained. Every decision should be documented.</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Data inconsistencies arise when the same concept is recorded in different or conflicting ways across a dataset. Formatting errors involve correct information stored in non-uniform styles — for example, dates recorded as MM/DD/YYYY in some rows and DD-MM-YYYY in others. Conflicting values occur when fields within the same record contradict each other, such as a birth date indicating an age of 5 while the age field shows 45. Standardizing categorical and text fields — for example, ensuring 'NY', 'New York', and 'new york' all map to a single value — is essential for reliable grouping and filtering. Normalizing numerical fields to consistent units and precision, and resolving date format variations, must occur before any analysis. Automated rule-based transformations and mapping dictionaries can handle large-scale inconsistencies efficiently. All corrections should be documented and validated.</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systematic data cleaning strategy follows a defined sequence rather than an ad hoc approach. The process begins with an initial assessment — profiling the dataset to understand its structure, column types, size, and the nature and extent of quality problems. Missing values and duplicates are typically addressed first because they affect subsequent steps. Inconsistencies and formatting issues are corrected next to ensure standardized data. Outlier detection and treatment follow once the data is structurally sound. The entire workflow should be scripted — ideally in Python, R, or SQL — so that the same steps can be reproduced when new data arrives or the process is audited. Final validation checks confirm that the cleaned dataset meets predefined quality standards before it proceeds to analysis or modeling.</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Preparing clean data for analysis is the final stage before a dataset is handed off for modeling, reporting, or visualization. Final validation checks confirm that missing values have been handled, duplicates removed, inconsistencies resolved, and all columns are in the expected format and type. Structural integrity checks ensure that column names are clear and consistent and that data types are correctly assigned. A final outlier review should confirm that extreme values are either valid or have been appropriately treated. Quality assurance techniques — such as automated test scripts, schema validation, and range checks — provide a systematic framework for catching any remaining errors. Comprehensive documentation of all cleaning decisions and data lineage must accompany the cleaned dataset. The data should then be formatted and split as required by the downstream analysis system, and ideally a repeatable cleaning pipeline should be established to apply these standards to future data updates.</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Documentation is not optional — it is a core component of professional data cleaning practice. Every decision made during cleaning, whether to impute a missing value, remove a duplicate, or cap an outlier, should be recorded with a clear rationale. Data lineage refers to the traceable record of where data came from, what transformations were applied, and how it arrived in its current state. This transparency is critical for auditing, peer review, and stakeholder trust. Building repeatable, automated cleaning pipelines ensures that quality standards are enforced consistently every time new data is introduced, reducing manual effort and the risk of human error. When data is well-documented and cleaning is reproducible, analysts can present their conclusions with confidence and defend their methodology to any audience.</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data quality is the foundation of all reliable analysis. The four key dimensions — accuracy, completeness, consistency, and reliability — must be evaluated together because they are interdependent. Analysts must be equipped to identify and handle missing values using knowledge of MCAR, MAR, and MNAR mechanisms; detect and remove duplicates arising from system errors or manual entry; manage outliers using both statistical and visual methods with context-informed decisions; and resolve inconsistencies through standardization and normalization. A systematic, scripted cleaning workflow — beginning with assessment and ending with validation and documentation — ensures reproducibility and builds trust in the final dataset. Ultimately, every high-quality analytical outcome depends on the quality of the data that feeds it. These fundamentals form the bedrock of professional data analysis practice.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Quality Assessment and Data Cleaning Fundamentals</a:t>
            </a:r>
          </a:p>
        </p:txBody>
      </p:sp>
      <p:sp>
        <p:nvSpPr>
          <p:cNvPr id="3" name="Content Placeholder 2"/>
          <p:cNvSpPr>
            <a:spLocks noGrp="1"/>
          </p:cNvSpPr>
          <p:nvPr>
            <p:ph idx="1"/>
          </p:nvPr>
        </p:nvSpPr>
        <p:spPr/>
        <p:txBody>
          <a:bodyPr/>
          <a:lstStyle/>
          <a:p>
            <a:pPr algn="ctr">
              <a:buNone/>
            </a:pPr>
            <a:r>
              <a:rPr lang="en-US" dirty="0"/>
              <a:t>A structured guide to understanding, evaluating, and cleaning data for reliable analysis.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Data Quality</a:t>
            </a:r>
          </a:p>
        </p:txBody>
      </p:sp>
      <p:sp>
        <p:nvSpPr>
          <p:cNvPr id="3" name="Content Placeholder 2"/>
          <p:cNvSpPr>
            <a:spLocks noGrp="1"/>
          </p:cNvSpPr>
          <p:nvPr>
            <p:ph idx="1"/>
          </p:nvPr>
        </p:nvSpPr>
        <p:spPr/>
        <p:txBody>
          <a:bodyPr/>
          <a:lstStyle/>
          <a:p>
            <a:r>
              <a:rPr lang="en-US" dirty="0"/>
              <a:t>Data quality measures how fit data is for its intended purpose.</a:t>
            </a:r>
          </a:p>
          <a:p>
            <a:r>
              <a:rPr lang="en-US" dirty="0"/>
              <a:t>Poor quality data leads to unreliable analysis and decisions.</a:t>
            </a:r>
          </a:p>
          <a:p>
            <a:r>
              <a:rPr lang="en-US" dirty="0"/>
              <a:t>Key dimensions: accuracy, completeness, consistency, and reliability.</a:t>
            </a:r>
          </a:p>
          <a:p>
            <a:r>
              <a:rPr lang="en-US" dirty="0"/>
              <a:t>All four dimensions are interconnected and must be assessed together.</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Missing Values</a:t>
            </a:r>
          </a:p>
        </p:txBody>
      </p:sp>
      <p:sp>
        <p:nvSpPr>
          <p:cNvPr id="3" name="Content Placeholder 2"/>
          <p:cNvSpPr>
            <a:spLocks noGrp="1"/>
          </p:cNvSpPr>
          <p:nvPr>
            <p:ph idx="1"/>
          </p:nvPr>
        </p:nvSpPr>
        <p:spPr/>
        <p:txBody>
          <a:bodyPr/>
          <a:lstStyle/>
          <a:p>
            <a:r>
              <a:rPr lang="en-US" dirty="0"/>
              <a:t>Missing values appear as NULL, NaN, blanks, or placeholder codes.</a:t>
            </a:r>
          </a:p>
          <a:p>
            <a:r>
              <a:rPr lang="en-US" dirty="0"/>
              <a:t>Missingness types: MCAR, MAR, and MNAR carry different implications.</a:t>
            </a:r>
          </a:p>
          <a:p>
            <a:r>
              <a:rPr lang="en-US" dirty="0"/>
              <a:t>Quantify missing data by variable and row before acting.</a:t>
            </a:r>
          </a:p>
          <a:p>
            <a:r>
              <a:rPr lang="en-US" dirty="0"/>
              <a:t>Unaddressed missing data introduces bias and reduces statistical power.</a:t>
            </a:r>
          </a:p>
          <a:p>
            <a:r>
              <a:rPr lang="en-US" dirty="0"/>
              <a:t>Document missing data findings to communicate dataset limitations clearly.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Duplicate Data</a:t>
            </a:r>
          </a:p>
        </p:txBody>
      </p:sp>
      <p:sp>
        <p:nvSpPr>
          <p:cNvPr id="3" name="Content Placeholder 2"/>
          <p:cNvSpPr>
            <a:spLocks noGrp="1"/>
          </p:cNvSpPr>
          <p:nvPr>
            <p:ph idx="1"/>
          </p:nvPr>
        </p:nvSpPr>
        <p:spPr/>
        <p:txBody>
          <a:bodyPr/>
          <a:lstStyle/>
          <a:p>
            <a:r>
              <a:rPr lang="en-US" dirty="0"/>
              <a:t>Duplicates are repeated records — exact copies or near-identical rows.</a:t>
            </a:r>
          </a:p>
          <a:p>
            <a:r>
              <a:rPr lang="en-US" dirty="0"/>
              <a:t>Common causes include system merges, manual entry errors, and ETL bugs.</a:t>
            </a:r>
          </a:p>
          <a:p>
            <a:r>
              <a:rPr lang="en-US" dirty="0"/>
              <a:t>Detection requires automated tools combined with domain knowledge.</a:t>
            </a:r>
          </a:p>
          <a:p>
            <a:r>
              <a:rPr lang="en-US" dirty="0"/>
              <a:t>Resolution strategies depend on context, completeness, and business rules.</a:t>
            </a:r>
          </a:p>
          <a:p>
            <a:r>
              <a:rPr lang="en-US" dirty="0"/>
              <a:t>Unresolved duplicates distort counts, aggregations, and model training.</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Detecting and Managing Outliers</a:t>
            </a:r>
          </a:p>
        </p:txBody>
      </p:sp>
      <p:sp>
        <p:nvSpPr>
          <p:cNvPr id="3" name="Content Placeholder 2"/>
          <p:cNvSpPr>
            <a:spLocks noGrp="1"/>
          </p:cNvSpPr>
          <p:nvPr>
            <p:ph idx="1"/>
          </p:nvPr>
        </p:nvSpPr>
        <p:spPr/>
        <p:txBody>
          <a:bodyPr/>
          <a:lstStyle/>
          <a:p>
            <a:r>
              <a:rPr lang="en-US" dirty="0"/>
              <a:t>Outliers deviate significantly from the rest of the dataset.</a:t>
            </a:r>
          </a:p>
          <a:p>
            <a:r>
              <a:rPr lang="en-US" dirty="0"/>
              <a:t>Statistical methods: Z-score, IQR, and modified Z-score techniques.</a:t>
            </a:r>
          </a:p>
          <a:p>
            <a:r>
              <a:rPr lang="en-US" dirty="0"/>
              <a:t>Visual methods: box plots, scatter plots, and histograms.</a:t>
            </a:r>
          </a:p>
          <a:p>
            <a:r>
              <a:rPr lang="en-US" dirty="0"/>
              <a:t>Removal, transformation, or retention depends on analytical context.</a:t>
            </a:r>
          </a:p>
          <a:p>
            <a:r>
              <a:rPr lang="en-US" dirty="0"/>
              <a:t>Document all outlier decisions to ensure reproducibility and defensibility.</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Resolving Data Inconsistencies</a:t>
            </a:r>
          </a:p>
        </p:txBody>
      </p:sp>
      <p:sp>
        <p:nvSpPr>
          <p:cNvPr id="3" name="Content Placeholder 2"/>
          <p:cNvSpPr>
            <a:spLocks noGrp="1"/>
          </p:cNvSpPr>
          <p:nvPr>
            <p:ph idx="1"/>
          </p:nvPr>
        </p:nvSpPr>
        <p:spPr/>
        <p:txBody>
          <a:bodyPr/>
          <a:lstStyle/>
          <a:p>
            <a:r>
              <a:rPr lang="en-US" dirty="0"/>
              <a:t>Inconsistencies occur when the same information is represented differently.</a:t>
            </a:r>
          </a:p>
          <a:p>
            <a:r>
              <a:rPr lang="en-US" dirty="0"/>
              <a:t>Formatting errors include non-uniform structures in otherwise correct data.</a:t>
            </a:r>
          </a:p>
          <a:p>
            <a:r>
              <a:rPr lang="en-US" dirty="0"/>
              <a:t>Conflicting values occur when fields logically contradict each other.</a:t>
            </a:r>
          </a:p>
          <a:p>
            <a:r>
              <a:rPr lang="en-US" dirty="0"/>
              <a:t>Standardize categorical labels and text to one consistent format.</a:t>
            </a:r>
          </a:p>
          <a:p>
            <a:r>
              <a:rPr lang="en-US" dirty="0"/>
              <a:t>Normalize dates, numbers, and units before analysis begins.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Systematic Data Cleaning Strategies</a:t>
            </a:r>
          </a:p>
        </p:txBody>
      </p:sp>
      <p:sp>
        <p:nvSpPr>
          <p:cNvPr id="3" name="Content Placeholder 2"/>
          <p:cNvSpPr>
            <a:spLocks noGrp="1"/>
          </p:cNvSpPr>
          <p:nvPr>
            <p:ph idx="1"/>
          </p:nvPr>
        </p:nvSpPr>
        <p:spPr/>
        <p:txBody>
          <a:bodyPr/>
          <a:lstStyle/>
          <a:p>
            <a:r>
              <a:rPr lang="en-US" dirty="0"/>
              <a:t>Begin with a thorough assessment of structure, size, and quality issues.</a:t>
            </a:r>
          </a:p>
          <a:p>
            <a:r>
              <a:rPr lang="en-US" dirty="0"/>
              <a:t>Address missing values, duplicates, and inconsistencies in sequence.</a:t>
            </a:r>
          </a:p>
          <a:p>
            <a:r>
              <a:rPr lang="en-US" dirty="0"/>
              <a:t>Detect and treat outliers after structural cleaning is complete.</a:t>
            </a:r>
          </a:p>
          <a:p>
            <a:r>
              <a:rPr lang="en-US" dirty="0"/>
              <a:t>Build scripted, repeatable workflows for consistent application.</a:t>
            </a:r>
          </a:p>
          <a:p>
            <a:r>
              <a:rPr lang="en-US" dirty="0"/>
              <a:t>Validate cleaned data against quality standards before use.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Preparing Clean Data for Analysis</a:t>
            </a:r>
          </a:p>
        </p:txBody>
      </p:sp>
      <p:sp>
        <p:nvSpPr>
          <p:cNvPr id="3" name="Content Placeholder 2"/>
          <p:cNvSpPr>
            <a:spLocks noGrp="1"/>
          </p:cNvSpPr>
          <p:nvPr>
            <p:ph idx="1"/>
          </p:nvPr>
        </p:nvSpPr>
        <p:spPr/>
        <p:txBody>
          <a:bodyPr/>
          <a:lstStyle/>
          <a:p>
            <a:r>
              <a:rPr lang="en-US" dirty="0"/>
              <a:t>Run final validation checks to confirm all cleaning steps applied correctly.</a:t>
            </a:r>
          </a:p>
          <a:p>
            <a:r>
              <a:rPr lang="en-US" dirty="0"/>
              <a:t>Ensure columns are consistently typed, named, and organized.</a:t>
            </a:r>
          </a:p>
          <a:p>
            <a:r>
              <a:rPr lang="en-US" dirty="0"/>
              <a:t>Review remaining outliers for validity before finalizing the dataset.</a:t>
            </a:r>
          </a:p>
          <a:p>
            <a:r>
              <a:rPr lang="en-US" dirty="0"/>
              <a:t>Apply QA techniques to verify data meets predefined quality standards.</a:t>
            </a:r>
          </a:p>
          <a:p>
            <a:r>
              <a:rPr lang="en-US" dirty="0"/>
              <a:t>Format and split data to meet downstream tool or model requirements.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Documentation, Lineage, and Repeatable Pipelines</a:t>
            </a:r>
          </a:p>
        </p:txBody>
      </p:sp>
      <p:sp>
        <p:nvSpPr>
          <p:cNvPr id="3" name="Content Placeholder 2"/>
          <p:cNvSpPr>
            <a:spLocks noGrp="1"/>
          </p:cNvSpPr>
          <p:nvPr>
            <p:ph idx="1"/>
          </p:nvPr>
        </p:nvSpPr>
        <p:spPr/>
        <p:txBody>
          <a:bodyPr/>
          <a:lstStyle/>
          <a:p>
            <a:r>
              <a:rPr lang="en-US" dirty="0"/>
              <a:t>Document every cleaning decision to support reproducibility and trust.</a:t>
            </a:r>
          </a:p>
          <a:p>
            <a:r>
              <a:rPr lang="en-US" dirty="0"/>
              <a:t>Data lineage tracks the origin and transformation of each dataset.</a:t>
            </a:r>
          </a:p>
          <a:p>
            <a:r>
              <a:rPr lang="en-US" dirty="0"/>
              <a:t>Repeatable pipelines apply consistent standards to new incoming data.</a:t>
            </a:r>
          </a:p>
          <a:p>
            <a:r>
              <a:rPr lang="en-US" dirty="0"/>
              <a:t>Automation reduces human error and speeds up the cleaning process.</a:t>
            </a:r>
          </a:p>
          <a:p>
            <a:r>
              <a:rPr lang="en-US" dirty="0"/>
              <a:t>Clean, documented data enables confident, defensible analytical conclusions.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Data quality dimensions — accuracy, completeness, consistency, reliability — are foundational.</a:t>
            </a:r>
          </a:p>
          <a:p>
            <a:r>
              <a:rPr lang="en-US" dirty="0"/>
              <a:t>Missing values, duplicates, outliers, and inconsistencies must be systematically addressed.</a:t>
            </a:r>
          </a:p>
          <a:p>
            <a:r>
              <a:rPr lang="en-US" dirty="0"/>
              <a:t>Context drives decisions on how to handle each type of data problem.</a:t>
            </a:r>
          </a:p>
          <a:p>
            <a:r>
              <a:rPr lang="en-US" dirty="0"/>
              <a:t>Repeatable, documented workflows are essential for trustworthy analysis.</a:t>
            </a:r>
          </a:p>
          <a:p>
            <a:r>
              <a:rPr lang="en-US" dirty="0"/>
              <a:t>Clean, validated data is the prerequisite for every reliable analytical outcome.</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10</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Data Quality Assessment and Data Cleaning Fundamentals</dc:title>
  <dc:creator>PreseMaker</dc:creator>
  <cp:lastModifiedBy>PreseMaker</cp:lastModifiedBy>
  <dcterms:created xsi:type="dcterms:W3CDTF">2026-07-03T17:53:18Z</dcterms:created>
  <dcterms:modified xsi:type="dcterms:W3CDTF">2026-07-03T17:53:18Z</dcterms:modified>
</cp:coreProperties>
</file>
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covers the full spectrum of Python data visualization — from foundational libraries like Matplotlib and Seaborn, through core chart types, advanced techniques like heatmaps and pair plots, publication-quality styling, data storytelling principles, and finally building interactive figures. By the end, you will have a solid framework for producing professional, insightful visualizations in your own analytical work.</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Matplotlib has been the backbone of Python plotting since 2003, supporting static, animated, and interactive visualizations across virtually every domain. Seaborn extends Matplotlib by wrapping complex plotting logic into concise, expressive functions while automatically applying statistically meaningful defaults. Crucially, Seaborn still uses Matplotlib under the hood for rendering, so understanding Matplotlib's Figure and Axes structure is essential. To set up your environment, run 'pip install matplotlib seaborn pandas numpy'. The Figure object is the top-level container, while Axes objects are the individual coordinate systems within it — this distinction is key to fine-grained customization. Both libraries also offer style configuration options, such as 'plt.style.use()' and 'sns.set_theme()', to establish a consistent visual look across all plots in a session.</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Bar charts are the default choice when comparing named groups — for example, sales by region or average scores by student cohort. Line plots are most effective when the x-axis represents an ordered sequence, particularly time, because the connecting line implies continuity and progression. Scatter plots show individual observations along two numeric axes, making patterns of correlation, clustering, or outliers immediately visible. The critical skill is matching your chart type to both your data structure and your question: categorical comparisons call for bars, temporal trends call for lines, and variable relationships call for scatter plots. Using the wrong chart type — such as a line plot for unordered categories — can create a false sense of trend where none exists.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Histograms aggregate continuous data into bins and plot the count or density of observations in each bin, making the underlying distribution immediately visible. The choice of bin width is consequential — too few bins obscure detail, while too many create noise. Histograms surface key distribution properties: whether data is symmetric or skewed, unimodal or bimodal, and how spread out observations are. When selecting any chart type, ask two questions: what is the structure of my data (categorical, continuous, temporal, relational), and what analytical message am I trying to convey? These two questions together narrow the field considerably. Also factor in audience sophistication — a general audience may find a simple bar chart more actionable than a violin plot, even if the latter contains more statistical information.</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Seaborn's 'sns.heatmap()' function makes building correlation heatmaps straightforward: pass a DataFrame's '.corr()' output and a color palette, and a fully rendered heatmap appears immediately. Annotations are enabled with the 'annot=True' parameter, overlaying the numeric correlation coefficient on each cell — this is especially important when precise values matter to your audience. Reading a heatmap correctly requires understanding that darker or more saturated colors indicate stronger relationships, and that diverging palettes (such as 'coolwarm') help the viewer instantly distinguish positive from negative correlations. Customization options include masking the upper triangle to avoid redundancy, adjusting the color scale with 'vmin' and 'vmax', and setting line widths between cells. These refinements transform a default heatmap into a publication-quality figure.</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Seaborn's 'sns.pairplot()' generates a matrix of plots covering all pairwise combinations of numeric variables in a dataset with a single function call, making it one of the most efficient tools for multivariate exploratory data analysis. The diagonal of the grid defaults to KDE or histogram plots for each individual variable, while the off-diagonal cells show scatter plots for each pair. Adding 'hue' allows you to overlay class membership — for instance, coloring points by species or group — which can immediately surface clustering or separation between categories. The 'kind' parameter lets you substitute regression lines or KDE contours for raw scatter points, offering additional analytical depth. A powerful EDA workflow pairs the high-level pattern detection of a correlation heatmap with the detailed relational shape revealed by pair plots, giving you both the summary and the evidence.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Style configuration should be one of the first steps in any visualization workflow. Matplotlib provides over 25 built-in style sheets — such as 'seaborn-v0_8', 'ggplot', and 'bmh' — that instantly modernize default plot aesthetics. Seaborn's 'set_theme()' function accepts context settings ('paper', 'notebook', 'talk', 'poster') that scale font and line sizes appropriately for the output medium. Color palette selection is both an aesthetic and an ethical decision: sequential palettes work for ordered data, diverging palettes for data centered around a meaningful midpoint, and qualitative palettes for unordered categories. Always test palettes for colorblind accessibility — approximately 8% of men have some form of color vision deficiency. Libraries like Seaborn and Matplotlib include palettes such as 'viridis', 'cividis', and 'colorblind' that are explicitly designed to be distinguishable under common forms of color blindness.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Typography is often overlooked but profoundly affects the professionalism of a figure. Use 'plt.rcParams' to set font family, default font size, and axis label weights globally. For individual elements, 'ax.set_title()', 'ax.set_xlabel()', and 'ax.tick_params()' offer fine-grained control. Annotations are added with 'ax.annotate()' or 'ax.text()', and reference lines — such as a mean or regulatory threshold — are added with 'ax.axhline()' or 'ax.axvline()'. Layout management is critical in multi-panel figures: 'plt.tight_layout()' automatically adjusts subplot parameters to eliminate overlapping labels, while 'plt.subplots_adjust()' gives manual control over spacing. Setting figure size with 'figsize=(width, height)' and resolution with 'dpi' at figure creation ensures the output suits its destination — screen display, a printed journal, or a presentation slide.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Legends and colorbars are the keys that decode a figure's visual encoding, so their placement and labeling deserve careful attention. Legends can be repositioned using 'loc' or 'bbox_to_anchor' arguments to 'ax.legend()'; placing them outside the plot area using 'bbox_to_anchor=(1, 1)' with 'loc=upper left' is a common technique for complex figures. Colorbars are added with 'plt.colorbar()' and should always include a descriptive label via 'colorbar.set_label()'. When exporting, format choice depends on intended use: SVG and PDF are vector formats that scale infinitely without quality loss, making them ideal for publications and presentations. PNG at 300 DPI is standard for journal submission. Always use 'plt.savefig()' with 'bbox_inches=tight' to ensure nothing is cropped at the edges. For color accuracy in print, verify whether the venue requires RGB or CMYK profiles.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storytelling borrows from classical narrative structure: you begin by establishing the context (why does this data matter?), build through evidence and insight (what does the data show?), and conclude with a recommendation or call to action (what should we do?). Without this arc, even accurate visualizations can fail to produce understanding or change. Visual hierarchy is the design principle that ensures viewers see the most important information first — achieved through strategic use of color saturation, element size, contrast, and spatial positioning. For example, highlighting a single critical bar in red while leaving others gray draws the eye immediately to the finding you want to emphasize. Removing gridlines, borders, and unnecessary labels — a practice called 'reducing chart junk' — amplifies the signal of the hierarchy cues you intentionally include.</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Misleading visuals often arise from seemingly minor choices: a bar chart with a y-axis starting at 50 instead of 0 can make a 5% difference look like a 500% difference. Inconsistent time ranges across comparison charts, selective data exclusion, and dual axes with mismatched scales are other common pitfalls. As a communicator, your responsibility is to represent the data faithfully even when a more dramatic visual would be more persuasive. Annotations — including callouts for peak values, shaded regions for significant periods, and direct data labels — remove interpretive ambiguity and make charts stand alone without extensive caption text. Audience calibration is equally important: a chart designed for domain experts can include statistical notation and multi-layered encoding, while one designed for a general audience should use familiar chart types, plain language labels, and a single focused message per figure. Publication-quality consistency — same fonts, palettes, and spacing — makes multi-figure reports feel authoritative.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Static images communicate a fixed view of data; interactive figures invite the audience to ask their own questions and follow their own analytical threads. Matplotlib provides interactivity through 'ipywidgets' integration — sliders, dropdowns, and buttons can be bound to plot parameters, redrawing the figure dynamically within a Jupyter notebook. However, Matplotlib's interactivity is relatively limited compared to purpose-built libraries. Plotly, which can be installed via 'pip install plotly', generates HTML-based figures with built-in hover tooltips, zoom, pan, click events, and animated transitions — all without writing JavaScript. Hover tooltips are especially valuable: they allow you to display additional context (such as a data point's ID, category, or ancillary metric) on demand, keeping the primary visualization clean while making full detail accessible. Click events can be wired to filter data, highlight a subset, or navigate to a detail view.</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Integrating interactive figures into Python analytical workflows is straightforward with Plotly: figures created with Plotly Express or Plotly Graph Objects can be displayed inline in Jupyter with 'fig.show()', exported to standalone HTML files with 'fig.write_html()', or embedded in web dashboards using Dash. When designing interactive features, always prioritize the core analytical message — interactivity should deepen engagement with the insight, not gamify or distract from it. A common mistake is adding too many controls (filters, toggles, dropdowns) that overwhelm users and obscure the main finding. Best practice is to define one or two key interactions that directly support the audience's decision-making needs and leave everything else as a static default. Always test your interactive figures on the actual devices and browsers your audience will use, since rendering behavior can vary across environments. Ensure fallback static images are available for contexts where HTML output is not supported, such as printed reports or PDF exports.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the journey we have taken: we began with the foundational relationship between Matplotlib and Seaborn and how to configure your environment and plot structure. We then surveyed core chart types — bar, line, scatter, and histogram — and the critical decision framework for selecting among them. We explored advanced techniques, including heatmaps for correlation analysis and pair plots for multivariate relationship discovery. We covered the full spectrum of publication-quality customization, from themes and color palettes to typography, annotations, layout, legends, and export settings. We examined data storytelling principles — narrative arc, visual hierarchy, avoiding misleading design choices, audience calibration, and consistency standards. Finally, we introduced interactive visualization using Matplotlib widgets and Plotly, emphasizing best practices for embedding interactivity into analytical workflows. Armed with these tools and principles, you are equipped to produce visualizations that are not only technically correct but analytically compelling and professionally polished.</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Data Visualization with Python Libraries</a:t>
            </a:r>
          </a:p>
        </p:txBody>
      </p:sp>
      <p:sp>
        <p:nvSpPr>
          <p:cNvPr id="3" name="Content Placeholder 2"/>
          <p:cNvSpPr>
            <a:spLocks noGrp="1"/>
          </p:cNvSpPr>
          <p:nvPr>
            <p:ph idx="1"/>
          </p:nvPr>
        </p:nvSpPr>
        <p:spPr/>
        <p:txBody>
          <a:bodyPr/>
          <a:lstStyle/>
          <a:p>
            <a:pPr algn="ctr">
              <a:buNone/>
            </a:pPr>
            <a:r>
              <a:rPr lang="en-US" dirty="0"/>
              <a:t>A comprehensive guide to Matplotlib, Seaborn, and interactive visualization for college students.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Matplotlib and Seaborn</a:t>
            </a:r>
          </a:p>
        </p:txBody>
      </p:sp>
      <p:sp>
        <p:nvSpPr>
          <p:cNvPr id="3" name="Content Placeholder 2"/>
          <p:cNvSpPr>
            <a:spLocks noGrp="1"/>
          </p:cNvSpPr>
          <p:nvPr>
            <p:ph idx="1"/>
          </p:nvPr>
        </p:nvSpPr>
        <p:spPr/>
        <p:txBody>
          <a:bodyPr/>
          <a:lstStyle/>
          <a:p>
            <a:r>
              <a:rPr lang="en-US" dirty="0"/>
              <a:t>Matplotlib is Python's foundational library for static and interactive plots.</a:t>
            </a:r>
          </a:p>
          <a:p>
            <a:r>
              <a:rPr lang="en-US" dirty="0"/>
              <a:t>Seaborn offers a high-level interface built on top of Matplotlib.</a:t>
            </a:r>
          </a:p>
          <a:p>
            <a:r>
              <a:rPr lang="en-US" dirty="0"/>
              <a:t>Seaborn complements Matplotlib — it does not replace it.</a:t>
            </a:r>
          </a:p>
          <a:p>
            <a:r>
              <a:rPr lang="en-US" dirty="0"/>
              <a:t>Install both libraries along with NumPy and Pandas.</a:t>
            </a:r>
          </a:p>
          <a:p>
            <a:r>
              <a:rPr lang="en-US" dirty="0"/>
              <a:t>Figures contain Axes objects, each representing one plot area.</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Chart Types: Bar, Line, and Scatter</a:t>
            </a:r>
          </a:p>
        </p:txBody>
      </p:sp>
      <p:sp>
        <p:nvSpPr>
          <p:cNvPr id="3" name="Content Placeholder 2"/>
          <p:cNvSpPr>
            <a:spLocks noGrp="1"/>
          </p:cNvSpPr>
          <p:nvPr>
            <p:ph idx="1"/>
          </p:nvPr>
        </p:nvSpPr>
        <p:spPr/>
        <p:txBody>
          <a:bodyPr/>
          <a:lstStyle/>
          <a:p>
            <a:r>
              <a:rPr lang="en-US" dirty="0"/>
              <a:t>Bar charts compare discrete categories, highlighting differences in magnitude.</a:t>
            </a:r>
          </a:p>
          <a:p>
            <a:r>
              <a:rPr lang="en-US" dirty="0"/>
              <a:t>Line plots reveal trends and changes across ordered dimensions like time.</a:t>
            </a:r>
          </a:p>
          <a:p>
            <a:r>
              <a:rPr lang="en-US" dirty="0"/>
              <a:t>Scatter plots explore correlations between two continuous numeric variables.</a:t>
            </a:r>
          </a:p>
          <a:p>
            <a:r>
              <a:rPr lang="en-US" dirty="0"/>
              <a:t>Choose chart type based on data nature and analytical question.</a:t>
            </a:r>
          </a:p>
          <a:p>
            <a:r>
              <a:rPr lang="en-US" dirty="0"/>
              <a:t>Matching chart to message prevents misinterpretation of findings.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Chart Types: Histograms and Chart Selection</a:t>
            </a:r>
          </a:p>
        </p:txBody>
      </p:sp>
      <p:sp>
        <p:nvSpPr>
          <p:cNvPr id="3" name="Content Placeholder 2"/>
          <p:cNvSpPr>
            <a:spLocks noGrp="1"/>
          </p:cNvSpPr>
          <p:nvPr>
            <p:ph idx="1"/>
          </p:nvPr>
        </p:nvSpPr>
        <p:spPr/>
        <p:txBody>
          <a:bodyPr/>
          <a:lstStyle/>
          <a:p>
            <a:r>
              <a:rPr lang="en-US" dirty="0"/>
              <a:t>Histograms reveal the frequency distribution of a single continuous variable.</a:t>
            </a:r>
          </a:p>
          <a:p>
            <a:r>
              <a:rPr lang="en-US" dirty="0"/>
              <a:t>Bins group data ranges; bin width affects distribution shape interpretation.</a:t>
            </a:r>
          </a:p>
          <a:p>
            <a:r>
              <a:rPr lang="en-US" dirty="0"/>
              <a:t>Skewness, modality, and spread are readable from histogram shape.</a:t>
            </a:r>
          </a:p>
          <a:p>
            <a:r>
              <a:rPr lang="en-US" dirty="0"/>
              <a:t>Always align chart choice with the story your data tells.</a:t>
            </a:r>
          </a:p>
          <a:p>
            <a:r>
              <a:rPr lang="en-US" dirty="0"/>
              <a:t>Consider audience familiarity when selecting visualization complexity.</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Visualizations: Heatmaps</a:t>
            </a:r>
          </a:p>
        </p:txBody>
      </p:sp>
      <p:sp>
        <p:nvSpPr>
          <p:cNvPr id="3" name="Content Placeholder 2"/>
          <p:cNvSpPr>
            <a:spLocks noGrp="1"/>
          </p:cNvSpPr>
          <p:nvPr>
            <p:ph idx="1"/>
          </p:nvPr>
        </p:nvSpPr>
        <p:spPr/>
        <p:txBody>
          <a:bodyPr/>
          <a:lstStyle/>
          <a:p>
            <a:r>
              <a:rPr lang="en-US" dirty="0"/>
              <a:t>Heatmaps encode numerical values as colors in a grid layout.</a:t>
            </a:r>
          </a:p>
          <a:p>
            <a:r>
              <a:rPr lang="en-US" dirty="0"/>
              <a:t>Ideal for displaying correlation matrices and tabular data patterns.</a:t>
            </a:r>
          </a:p>
          <a:p>
            <a:r>
              <a:rPr lang="en-US" dirty="0"/>
              <a:t>Annotations show exact values, improving readability and precision.</a:t>
            </a:r>
          </a:p>
          <a:p>
            <a:r>
              <a:rPr lang="en-US" dirty="0"/>
              <a:t>Color intensity and direction indicate correlation strength and sign.</a:t>
            </a:r>
          </a:p>
          <a:p>
            <a:r>
              <a:rPr lang="en-US" dirty="0"/>
              <a:t>Diverging palettes distinguish positive, neutral, and negative correlations.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Visualizations: Pair Plots</a:t>
            </a:r>
          </a:p>
        </p:txBody>
      </p:sp>
      <p:sp>
        <p:nvSpPr>
          <p:cNvPr id="3" name="Content Placeholder 2"/>
          <p:cNvSpPr>
            <a:spLocks noGrp="1"/>
          </p:cNvSpPr>
          <p:nvPr>
            <p:ph idx="1"/>
          </p:nvPr>
        </p:nvSpPr>
        <p:spPr/>
        <p:txBody>
          <a:bodyPr/>
          <a:lstStyle/>
          <a:p>
            <a:r>
              <a:rPr lang="en-US" dirty="0"/>
              <a:t>Pair plots grid every numeric variable combination in one figure.</a:t>
            </a:r>
          </a:p>
          <a:p>
            <a:r>
              <a:rPr lang="en-US" dirty="0"/>
              <a:t>Diagonal cells show each variable's individual distribution.</a:t>
            </a:r>
          </a:p>
          <a:p>
            <a:r>
              <a:rPr lang="en-US" dirty="0"/>
              <a:t>Off-diagonal cells display scatter plots between variable pairs.</a:t>
            </a:r>
          </a:p>
          <a:p>
            <a:r>
              <a:rPr lang="en-US" dirty="0"/>
              <a:t>Use 'hue' parameter to color-code points by a categorical variable.</a:t>
            </a:r>
          </a:p>
          <a:p>
            <a:r>
              <a:rPr lang="en-US" dirty="0"/>
              <a:t>Combine with heatmaps for a complete exploratory analysis workflow.</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Customization: Themes, Styles, and Color</a:t>
            </a:r>
          </a:p>
        </p:txBody>
      </p:sp>
      <p:sp>
        <p:nvSpPr>
          <p:cNvPr id="3" name="Content Placeholder 2"/>
          <p:cNvSpPr>
            <a:spLocks noGrp="1"/>
          </p:cNvSpPr>
          <p:nvPr>
            <p:ph idx="1"/>
          </p:nvPr>
        </p:nvSpPr>
        <p:spPr/>
        <p:txBody>
          <a:bodyPr/>
          <a:lstStyle/>
          <a:p>
            <a:r>
              <a:rPr lang="en-US" dirty="0"/>
              <a:t>Matplotlib style sheets and Seaborn themes change default appearances globally.</a:t>
            </a:r>
          </a:p>
          <a:p>
            <a:r>
              <a:rPr lang="en-US" dirty="0"/>
              <a:t>Use 'plt.style.use()' or 'sns.set_theme()' at session start.</a:t>
            </a:r>
          </a:p>
          <a:p>
            <a:r>
              <a:rPr lang="en-US" dirty="0"/>
              <a:t>Choose color palettes for clarity, accessibility, and visual appeal.</a:t>
            </a:r>
          </a:p>
          <a:p>
            <a:r>
              <a:rPr lang="en-US" dirty="0"/>
              <a:t>Colorblind-safe palettes like 'colorblind' or 'viridis' improve inclusivity.</a:t>
            </a:r>
          </a:p>
          <a:p>
            <a:r>
              <a:rPr lang="en-US" dirty="0"/>
              <a:t>Consistent palette use across slides reinforces visual branding.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Customization: Fonts, Annotations, and Layout</a:t>
            </a:r>
          </a:p>
        </p:txBody>
      </p:sp>
      <p:sp>
        <p:nvSpPr>
          <p:cNvPr id="3" name="Content Placeholder 2"/>
          <p:cNvSpPr>
            <a:spLocks noGrp="1"/>
          </p:cNvSpPr>
          <p:nvPr>
            <p:ph idx="1"/>
          </p:nvPr>
        </p:nvSpPr>
        <p:spPr/>
        <p:txBody>
          <a:bodyPr/>
          <a:lstStyle/>
          <a:p>
            <a:r>
              <a:rPr lang="en-US" dirty="0"/>
              <a:t>Control font family, size, and weight for all text elements.</a:t>
            </a:r>
          </a:p>
          <a:p>
            <a:r>
              <a:rPr lang="en-US" dirty="0"/>
              <a:t>Annotations highlight key data points and guide reader interpretation.</a:t>
            </a:r>
          </a:p>
          <a:p>
            <a:r>
              <a:rPr lang="en-US" dirty="0"/>
              <a:t>Reference lines mark thresholds, averages, or benchmarks on axes.</a:t>
            </a:r>
          </a:p>
          <a:p>
            <a:r>
              <a:rPr lang="en-US" dirty="0"/>
              <a:t>Adjust figure size, DPI, and subplot spacing to prevent overlap.</a:t>
            </a:r>
          </a:p>
          <a:p>
            <a:r>
              <a:rPr lang="en-US" dirty="0"/>
              <a:t>Use 'tight_layout()' or 'constrained_layout' for balanced compositions.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Customization: Legends, Colorbars, and Export</a:t>
            </a:r>
          </a:p>
        </p:txBody>
      </p:sp>
      <p:sp>
        <p:nvSpPr>
          <p:cNvPr id="3" name="Content Placeholder 2"/>
          <p:cNvSpPr>
            <a:spLocks noGrp="1"/>
          </p:cNvSpPr>
          <p:nvPr>
            <p:ph idx="1"/>
          </p:nvPr>
        </p:nvSpPr>
        <p:spPr/>
        <p:txBody>
          <a:bodyPr/>
          <a:lstStyle/>
          <a:p>
            <a:r>
              <a:rPr lang="en-US" dirty="0"/>
              <a:t>Legends must be clearly labeled and positioned to avoid data occlusion.</a:t>
            </a:r>
          </a:p>
          <a:p>
            <a:r>
              <a:rPr lang="en-US" dirty="0"/>
              <a:t>Colorbars decode continuous color scales in heatmaps and surface plots.</a:t>
            </a:r>
          </a:p>
          <a:p>
            <a:r>
              <a:rPr lang="en-US" dirty="0"/>
              <a:t>Use 'bbox_to_anchor' to place legends outside the plot area.</a:t>
            </a:r>
          </a:p>
          <a:p>
            <a:r>
              <a:rPr lang="en-US" dirty="0"/>
              <a:t>Export figures as SVG or PDF for lossless vector output.</a:t>
            </a:r>
          </a:p>
          <a:p>
            <a:r>
              <a:rPr lang="en-US" dirty="0"/>
              <a:t>Set DPI to 300 or higher for print-ready raster formats.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Storytelling with Data: Narrative and Hierarchy</a:t>
            </a:r>
          </a:p>
        </p:txBody>
      </p:sp>
      <p:sp>
        <p:nvSpPr>
          <p:cNvPr id="3" name="Content Placeholder 2"/>
          <p:cNvSpPr>
            <a:spLocks noGrp="1"/>
          </p:cNvSpPr>
          <p:nvPr>
            <p:ph idx="1"/>
          </p:nvPr>
        </p:nvSpPr>
        <p:spPr/>
        <p:txBody>
          <a:bodyPr/>
          <a:lstStyle/>
          <a:p>
            <a:r>
              <a:rPr lang="en-US" dirty="0"/>
              <a:t>Structure data communication as a story: context, insight, action.</a:t>
            </a:r>
          </a:p>
          <a:p>
            <a:r>
              <a:rPr lang="en-US" dirty="0"/>
              <a:t>A clear narrative arc keeps audiences engaged and focused.</a:t>
            </a:r>
          </a:p>
          <a:p>
            <a:r>
              <a:rPr lang="en-US" dirty="0"/>
              <a:t>Visual hierarchy uses color, size, and contrast to guide attention.</a:t>
            </a:r>
          </a:p>
          <a:p>
            <a:r>
              <a:rPr lang="en-US" dirty="0"/>
              <a:t>Position the most critical visual element where eyes land first.</a:t>
            </a:r>
          </a:p>
          <a:p>
            <a:r>
              <a:rPr lang="en-US" dirty="0"/>
              <a:t>Reduce clutter so hierarchy signals stand out clearly.</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Storytelling with Data: Accuracy and Audience Design</a:t>
            </a:r>
          </a:p>
        </p:txBody>
      </p:sp>
      <p:sp>
        <p:nvSpPr>
          <p:cNvPr id="3" name="Content Placeholder 2"/>
          <p:cNvSpPr>
            <a:spLocks noGrp="1"/>
          </p:cNvSpPr>
          <p:nvPr>
            <p:ph idx="1"/>
          </p:nvPr>
        </p:nvSpPr>
        <p:spPr/>
        <p:txBody>
          <a:bodyPr/>
          <a:lstStyle/>
          <a:p>
            <a:r>
              <a:rPr lang="en-US" dirty="0"/>
              <a:t>Truncated axes, inconsistent scales, and cherry-picked ranges mislead viewers.</a:t>
            </a:r>
          </a:p>
          <a:p>
            <a:r>
              <a:rPr lang="en-US" dirty="0"/>
              <a:t>Always start y-axes at zero for bar charts showing magnitude.</a:t>
            </a:r>
          </a:p>
          <a:p>
            <a:r>
              <a:rPr lang="en-US" dirty="0"/>
              <a:t>Strategic annotations transform charts into self-explanatory communication tools.</a:t>
            </a:r>
          </a:p>
          <a:p>
            <a:r>
              <a:rPr lang="en-US" dirty="0"/>
              <a:t>Calibrate chart complexity and vocabulary to your specific audience.</a:t>
            </a:r>
          </a:p>
          <a:p>
            <a:r>
              <a:rPr lang="en-US" dirty="0"/>
              <a:t>Consistent style across figures builds credibility and cohesion.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Interactive Figures: Foundations</a:t>
            </a:r>
          </a:p>
        </p:txBody>
      </p:sp>
      <p:sp>
        <p:nvSpPr>
          <p:cNvPr id="3" name="Content Placeholder 2"/>
          <p:cNvSpPr>
            <a:spLocks noGrp="1"/>
          </p:cNvSpPr>
          <p:nvPr>
            <p:ph idx="1"/>
          </p:nvPr>
        </p:nvSpPr>
        <p:spPr/>
        <p:txBody>
          <a:bodyPr/>
          <a:lstStyle/>
          <a:p>
            <a:r>
              <a:rPr lang="en-US" dirty="0"/>
              <a:t>Interactive figures let users explore data dynamically, not passively.</a:t>
            </a:r>
          </a:p>
          <a:p>
            <a:r>
              <a:rPr lang="en-US" dirty="0"/>
              <a:t>Matplotlib widgets enable basic interactivity inside Jupyter notebooks.</a:t>
            </a:r>
          </a:p>
          <a:p>
            <a:r>
              <a:rPr lang="en-US" dirty="0"/>
              <a:t>Plotly builds fully browser-rendered interactive charts natively.</a:t>
            </a:r>
          </a:p>
          <a:p>
            <a:r>
              <a:rPr lang="en-US" dirty="0"/>
              <a:t>Hover tooltips surface additional data details without cluttering visuals.</a:t>
            </a:r>
          </a:p>
          <a:p>
            <a:r>
              <a:rPr lang="en-US" dirty="0"/>
              <a:t>Click and selection events enable drill-down and filtering interactions.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Interactive Figures: Workflows and Best Practices</a:t>
            </a:r>
          </a:p>
        </p:txBody>
      </p:sp>
      <p:sp>
        <p:nvSpPr>
          <p:cNvPr id="3" name="Content Placeholder 2"/>
          <p:cNvSpPr>
            <a:spLocks noGrp="1"/>
          </p:cNvSpPr>
          <p:nvPr>
            <p:ph idx="1"/>
          </p:nvPr>
        </p:nvSpPr>
        <p:spPr/>
        <p:txBody>
          <a:bodyPr/>
          <a:lstStyle/>
          <a:p>
            <a:r>
              <a:rPr lang="en-US" dirty="0"/>
              <a:t>Embed interactive figures in Jupyter notebooks or export as HTML.</a:t>
            </a:r>
          </a:p>
          <a:p>
            <a:r>
              <a:rPr lang="en-US" dirty="0"/>
              <a:t>Use 'fig.show()' in Plotly to render in browser or notebook.</a:t>
            </a:r>
          </a:p>
          <a:p>
            <a:r>
              <a:rPr lang="en-US" dirty="0"/>
              <a:t>Interactivity should enhance, not distract from, the analytical message.</a:t>
            </a:r>
          </a:p>
          <a:p>
            <a:r>
              <a:rPr lang="en-US" dirty="0"/>
              <a:t>Avoid overloading figures with controls; prioritize the core insight.</a:t>
            </a:r>
          </a:p>
          <a:p>
            <a:r>
              <a:rPr lang="en-US" dirty="0"/>
              <a:t>Test interactive figures across target devices and browsers.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Matplotlib and Seaborn together cover the full Python visualization stack.</a:t>
            </a:r>
          </a:p>
          <a:p>
            <a:r>
              <a:rPr lang="en-US" dirty="0"/>
              <a:t>Matching chart type to data and message is a foundational skill.</a:t>
            </a:r>
          </a:p>
          <a:p>
            <a:r>
              <a:rPr lang="en-US" dirty="0"/>
              <a:t>Heatmaps and pair plots accelerate multivariate exploratory analysis.</a:t>
            </a:r>
          </a:p>
          <a:p>
            <a:r>
              <a:rPr lang="en-US" dirty="0"/>
              <a:t>Publication-quality styling requires deliberate choices in every element.</a:t>
            </a:r>
          </a:p>
          <a:p>
            <a:r>
              <a:rPr lang="en-US" dirty="0"/>
              <a:t>Storytelling, ethical accuracy, and audience design make visuals impactful.</a:t>
            </a:r>
          </a:p>
          <a:p>
            <a:r>
              <a:rPr lang="en-US" dirty="0"/>
              <a:t>Interactive figures unlock dynamic, user-driven data exploration.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Advanced Data Visualization with Python Libraries</dc:title>
  <dc:creator>PreseMaker</dc:creator>
  <cp:lastModifiedBy>PreseMaker</cp:lastModifiedBy>
  <dcterms:created xsi:type="dcterms:W3CDTF">2026-07-03T18:06:22Z</dcterms:created>
  <dcterms:modified xsi:type="dcterms:W3CDTF">2026-07-03T18:06:22Z</dcterms:modified>
</cp:coreProperties>
</file>
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to this presentation on data visualization principles and Excel charting. Today we will cover why visualization matters, how to choose the right chart type, design principles, common misleading practices to avoid, and hands-on guidance for building charts in Excel. By the end, you should be equipped to create clear, accurate, and professional visual summaries.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visualization exists to make information accessible. Raw numbers are difficult to interpret at a glance, but a well-constructed chart can immediately reveal trends, comparisons, and outliers. Choosing the wrong chart type is one of the most common mistakes — it can obscure meaning or lead audiences to incorrect conclusions. Visual hierarchy ensures viewers process the key message before supporting details. Core design principles include clarity, accuracy, and avoiding decoration that adds no informational value. Always ask who your audience is and what insight they need — a chart for an executive differs from one built for a data analyst.</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Misleading visualizations are a serious concern in data communication. Starting a y-axis at a value other than zero is one of the most common techniques that exaggerates differences. Even when the underlying data is accurate, a poorly constructed chart can lead audiences to entirely wrong conclusions. Selecting only a convenient data window — such as a short time range that supports a narrative — is called cherry-picking and distorts the true picture. Ethically, chart creators carry a responsibility to represent data honestly, especially when influencing decisions or public opinion. Being a critical consumer of charts is just as important as knowing how to build them.</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Selecting the right chart begins with a simple question: what relationship am I trying to communicate? Bar and column charts are ideal when comparing values across categories — for example, sales by region. Line charts are the standard for time-series data because they emphasize continuity and direction of change. Pie and donut charts should only be used when segments sum to a meaningful whole and there are few categories; too many slices become unreadable. Scatter plots plot two continuous numeric variables on x and y axes, making them perfect for showing correlations or identifying outliers. Always match the chart type to the nature of the data.</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four-category decision framework helps analysts quickly narrow down the appropriate chart type for any dataset. First, determine whether you are comparing values, showing how parts compose a whole, displaying how values are distributed, or illustrating a relationship between two variables. Each category maps naturally to a family of chart types. This framework prevents the common mistake of defaulting to a familiar chart type regardless of whether it fits the data. Encourage students to apply this framework as a checklist before building any visualization.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Visual hierarchy is about controlling where the viewer looks first. The most important message — often a headline number or a key trend — should be immediately visible. Color is one of the most powerful tools available, but overuse dilutes its impact; limit your palette and apply color intentionally. Size is another signal of importance: larger titles, bolder labels, or larger chart markers draw the eye. Layout matters too — titles should appear where viewers expect them, legends should not compete with the data, and white space should separate distinct sections. Contrast through differences in thickness, tone, or typography creates emphasis without adding clutter.</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chart that looks impressive but is hard to read has failed its purpose. Readability best practices include using clean fonts at appropriate sizes, removing unnecessary gridlines or borders, and avoiding 3D effects that distort perception. The principle of data-ink ratio — coined by Edward Tufte — encourages removing any ink that does not directly encode information. Excel provides robust formatting tools: you can remove chart borders, adjust gridline weight, change font sizes, and modify colors directly through the Format Chart Area and Format Data Series panels. Consistent styling across all charts in a report builds professionalism and trust.</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truncated axes and cherry-picked ranges, there are several other common misleading techniques. Dual-axis charts that use different scales on left and right y-axes can make two completely unrelated variables appear to move together. Pie charts with 3D effects or exploded slices distort the perceived size of each segment because the visual angle changes the apparent area. Using area to encode values — such as in bubble charts or area charts — requires careful scaling because humans are poor at accurately comparing areas. Choosing a line chart to connect unrelated categorical data implies a trend that does not exist. Each of these is an ethical issue as much as a design one.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ethical dimension of data visualization is often underemphasized. When charts are used to support business decisions, policy arguments, or public communication, inaccurate representations can cause real harm. Analysts should never adjust axes, select data ranges, or choose chart types with the intent to mislead — even subtly. Transparency about data sources, collection methods, and any transformations is essential for maintaining credibility. Students should also practice critically evaluating charts they encounter in news articles, social media, and corporate reports, asking questions like: where does the axis start, what data is excluded, and does this chart type fit this data? Being a thoughtful consumer of visualizations is a professional skill.</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Building a chart in Excel begins with selecting the data you want to visualize, including headers. Navigate to the Insert tab and choose a chart type from the Charts group. Excel's Recommended Charts feature analyzes your data and suggests appropriate options, which is a useful starting point for beginners. After insertion, you may find the data range needs adjustment — right-click the chart and choose Select Data to add, remove, or modify series. Charts can be repositioned within a worksheet by dragging, or moved to a dedicated chart sheet via the Move Chart option under the Chart Design tab for a cleaner presentation.</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Excel's Chart Design tab offers quick-apply layouts and styles that change the overall appearance of a chart with a single click. These presets are useful starting points but often need refinement. For precise control, double-click any chart element — a data series, axis, legend, or title — to open the Format pane on the right, where you can adjust fill color, border, font, size, and more. Descriptive chart titles and axis labels are non-negotiable for professional output; a chart without titles forces the audience to guess what they are looking at. Use consistent fonts and color palettes across all charts in a report to project a unified, professional appearance.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visual summary goes beyond a single chart — it integrates multiple elements into a cohesive, professional layout. Begin by selecting the chart type that best communicates the core message of your summary. Apply visual hierarchy by making the headline number or key trend the largest and most visually prominent element. In Excel, you can combine charts with text boxes, shapes, and data labels to create a dashboard-like layout on a single sheet. Use a consistent color palette — ideally two or three colors — and apply them uniformly across all charts in the summary. Every chart should have a clear title, axis labels where applicable, and annotations that explain significant data points without requiring the reader to search for meaning.</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Even in polished visual summaries, common mistakes can undermine credibility. Truncated axes, 3D effects, and mismatched chart types carry the same risks in a dashboard as in a standalone chart. Overloading a single chart with too many data series makes it impossible to read; split complex data into multiple focused charts instead. Accessibility is an important consideration — approximately 8% of men have some form of color vision deficiency, so avoid relying solely on red and green to distinguish categories. Use patterns or labels as supplements to color. Finally, strip out any decorative elements — drop shadows, gradients, clip art — that add visual noise without adding information.</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final step in building any visual summary is a structured review. Start by verifying that the data behind every chart is correct and that no formatting choices distort the representation. Check that every chart has a complete, descriptive title, labeled axes, and legible data labels. View the finished output at the actual size it will be displayed — whether on a screen, in a printed report, or in a presentation — because elements that look fine when zoomed in may be unreadable at smaller sizes. Whenever possible, ask a peer to review the summary and describe what they take away from it; if their interpretation differs from your intent, revise the design. Professionalism is built through iteration and attention to detail.</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close, the core principles of effective data visualization can be distilled into five commitments. First, always match your chart type to the specific data relationship — comparison, composition, distribution, or relationship — and to what your audience needs to understand. Second, apply design principles deliberately: use visual hierarchy, intentional color, and contrast to guide the viewer's eye. Third, uphold ethical standards by never manipulating axes, scales, or data ranges to create false impressions. Fourth, leverage Excel's powerful charting and formatting tools to build clean, professional visualizations. And fifth, always review your finished work critically for accuracy, clarity, consistency, and accessibility before presenting it. These principles will serve you throughout your academic and professional careers.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Visualization Principles and Excel Charting</a:t>
            </a:r>
          </a:p>
        </p:txBody>
      </p:sp>
      <p:sp>
        <p:nvSpPr>
          <p:cNvPr id="3" name="Content Placeholder 2"/>
          <p:cNvSpPr>
            <a:spLocks noGrp="1"/>
          </p:cNvSpPr>
          <p:nvPr>
            <p:ph idx="1"/>
          </p:nvPr>
        </p:nvSpPr>
        <p:spPr/>
        <p:txBody>
          <a:bodyPr/>
          <a:lstStyle/>
          <a:p>
            <a:pPr algn="ctr">
              <a:buNone/>
            </a:pPr>
            <a:r>
              <a:rPr lang="en-US" dirty="0"/>
              <a:t>A professional guide to designing, evaluating, and building effective data visualizations using Excel.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Foundations of Data Visualization</a:t>
            </a:r>
          </a:p>
        </p:txBody>
      </p:sp>
      <p:sp>
        <p:nvSpPr>
          <p:cNvPr id="3" name="Content Placeholder 2"/>
          <p:cNvSpPr>
            <a:spLocks noGrp="1"/>
          </p:cNvSpPr>
          <p:nvPr>
            <p:ph idx="1"/>
          </p:nvPr>
        </p:nvSpPr>
        <p:spPr/>
        <p:txBody>
          <a:bodyPr/>
          <a:lstStyle/>
          <a:p>
            <a:r>
              <a:rPr lang="en-US" dirty="0"/>
              <a:t>Visualization transforms raw data into understandable patterns and insights.</a:t>
            </a:r>
          </a:p>
          <a:p>
            <a:r>
              <a:rPr lang="en-US" dirty="0"/>
              <a:t>The right chart type is critical — wrong choices mislead viewers.</a:t>
            </a:r>
          </a:p>
          <a:p>
            <a:r>
              <a:rPr lang="en-US" dirty="0"/>
              <a:t>Visual hierarchy guides the eye to the most important message first.</a:t>
            </a:r>
          </a:p>
          <a:p>
            <a:r>
              <a:rPr lang="en-US" dirty="0"/>
              <a:t>Good design prioritizes accuracy, simplicity, and honest representation.</a:t>
            </a:r>
          </a:p>
          <a:p>
            <a:r>
              <a:rPr lang="en-US" dirty="0"/>
              <a:t>Understand your audience and what decisions they need to make.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Avoiding Misleading Representations</a:t>
            </a:r>
          </a:p>
        </p:txBody>
      </p:sp>
      <p:sp>
        <p:nvSpPr>
          <p:cNvPr id="3" name="Content Placeholder 2"/>
          <p:cNvSpPr>
            <a:spLocks noGrp="1"/>
          </p:cNvSpPr>
          <p:nvPr>
            <p:ph idx="1"/>
          </p:nvPr>
        </p:nvSpPr>
        <p:spPr/>
        <p:txBody>
          <a:bodyPr/>
          <a:lstStyle/>
          <a:p>
            <a:r>
              <a:rPr lang="en-US" dirty="0"/>
              <a:t>Truncated y-axes exaggerate differences between data points.</a:t>
            </a:r>
          </a:p>
          <a:p>
            <a:r>
              <a:rPr lang="en-US" dirty="0"/>
              <a:t>Poorly designed charts can distort perception even with accurate data.</a:t>
            </a:r>
          </a:p>
          <a:p>
            <a:r>
              <a:rPr lang="en-US" dirty="0"/>
              <a:t>Cherry-picking data ranges misrepresents long-term trends.</a:t>
            </a:r>
          </a:p>
          <a:p>
            <a:r>
              <a:rPr lang="en-US" dirty="0"/>
              <a:t>Designers have an ethical obligation to represent data honestly.</a:t>
            </a:r>
          </a:p>
          <a:p>
            <a:r>
              <a:rPr lang="en-US" dirty="0"/>
              <a:t>Develop skills to critically evaluate charts you encounter.</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Chart Type</a:t>
            </a:r>
          </a:p>
        </p:txBody>
      </p:sp>
      <p:sp>
        <p:nvSpPr>
          <p:cNvPr id="3" name="Content Placeholder 2"/>
          <p:cNvSpPr>
            <a:spLocks noGrp="1"/>
          </p:cNvSpPr>
          <p:nvPr>
            <p:ph idx="1"/>
          </p:nvPr>
        </p:nvSpPr>
        <p:spPr/>
        <p:txBody>
          <a:bodyPr/>
          <a:lstStyle/>
          <a:p>
            <a:r>
              <a:rPr lang="en-US" dirty="0"/>
              <a:t>Start by identifying the data relationship you want to show.</a:t>
            </a:r>
          </a:p>
          <a:p>
            <a:r>
              <a:rPr lang="en-US" dirty="0"/>
              <a:t>Bar and column charts compare discrete categories or rankings.</a:t>
            </a:r>
          </a:p>
          <a:p>
            <a:r>
              <a:rPr lang="en-US" dirty="0"/>
              <a:t>Line charts show how a variable changes over time.</a:t>
            </a:r>
          </a:p>
          <a:p>
            <a:r>
              <a:rPr lang="en-US" dirty="0"/>
              <a:t>Pie and donut charts display part-to-whole composition.</a:t>
            </a:r>
          </a:p>
          <a:p>
            <a:r>
              <a:rPr lang="en-US" dirty="0"/>
              <a:t>Scatter plots reveal correlations, clusters, and outliers.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Framework for Chart Selection</a:t>
            </a:r>
          </a:p>
        </p:txBody>
      </p:sp>
      <p:sp>
        <p:nvSpPr>
          <p:cNvPr id="3" name="Content Placeholder 2"/>
          <p:cNvSpPr>
            <a:spLocks noGrp="1"/>
          </p:cNvSpPr>
          <p:nvPr>
            <p:ph idx="1"/>
          </p:nvPr>
        </p:nvSpPr>
        <p:spPr/>
        <p:txBody>
          <a:bodyPr/>
          <a:lstStyle/>
          <a:p>
            <a:r>
              <a:rPr lang="en-US" dirty="0"/>
              <a:t>Four categories guide chart selection: comparison, composition, distribution, relationship.</a:t>
            </a:r>
          </a:p>
          <a:p>
            <a:r>
              <a:rPr lang="en-US" dirty="0"/>
              <a:t>Comparison — use bar, column, or bullet charts.</a:t>
            </a:r>
          </a:p>
          <a:p>
            <a:r>
              <a:rPr lang="en-US" dirty="0"/>
              <a:t>Composition — use pie, stacked bar, or area charts.</a:t>
            </a:r>
          </a:p>
          <a:p>
            <a:r>
              <a:rPr lang="en-US" dirty="0"/>
              <a:t>Distribution — use histograms or box plots.</a:t>
            </a:r>
          </a:p>
          <a:p>
            <a:r>
              <a:rPr lang="en-US" dirty="0"/>
              <a:t>Relationship — use scatter plots or bubble charts.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Hierarchy and Design Principles</a:t>
            </a:r>
          </a:p>
        </p:txBody>
      </p:sp>
      <p:sp>
        <p:nvSpPr>
          <p:cNvPr id="3" name="Content Placeholder 2"/>
          <p:cNvSpPr>
            <a:spLocks noGrp="1"/>
          </p:cNvSpPr>
          <p:nvPr>
            <p:ph idx="1"/>
          </p:nvPr>
        </p:nvSpPr>
        <p:spPr/>
        <p:txBody>
          <a:bodyPr/>
          <a:lstStyle/>
          <a:p>
            <a:r>
              <a:rPr lang="en-US" dirty="0"/>
              <a:t>Arrange elements so the viewer's eye moves from key to supporting information.</a:t>
            </a:r>
          </a:p>
          <a:p>
            <a:r>
              <a:rPr lang="en-US" dirty="0"/>
              <a:t>Use color purposefully to direct attention and encode meaning.</a:t>
            </a:r>
          </a:p>
          <a:p>
            <a:r>
              <a:rPr lang="en-US" dirty="0"/>
              <a:t>Vary size and scale to signal relative importance.</a:t>
            </a:r>
          </a:p>
          <a:p>
            <a:r>
              <a:rPr lang="en-US" dirty="0"/>
              <a:t>Layout and spatial organization determine how intuitively charts are read.</a:t>
            </a:r>
          </a:p>
          <a:p>
            <a:r>
              <a:rPr lang="en-US" dirty="0"/>
              <a:t>Contrast in color, tone, or weight makes key data points stand out.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Clarity, Readability, and Excel Design Tools</a:t>
            </a:r>
          </a:p>
        </p:txBody>
      </p:sp>
      <p:sp>
        <p:nvSpPr>
          <p:cNvPr id="3" name="Content Placeholder 2"/>
          <p:cNvSpPr>
            <a:spLocks noGrp="1"/>
          </p:cNvSpPr>
          <p:nvPr>
            <p:ph idx="1"/>
          </p:nvPr>
        </p:nvSpPr>
        <p:spPr/>
        <p:txBody>
          <a:bodyPr/>
          <a:lstStyle/>
          <a:p>
            <a:r>
              <a:rPr lang="en-US" dirty="0"/>
              <a:t>Clarity always takes priority over decorative complexity.</a:t>
            </a:r>
          </a:p>
          <a:p>
            <a:r>
              <a:rPr lang="en-US" dirty="0"/>
              <a:t>Remove gridlines, borders, and elements that add no value.</a:t>
            </a:r>
          </a:p>
          <a:p>
            <a:r>
              <a:rPr lang="en-US" dirty="0"/>
              <a:t>Ensure fonts are legible at the intended display size.</a:t>
            </a:r>
          </a:p>
          <a:p>
            <a:r>
              <a:rPr lang="en-US" dirty="0"/>
              <a:t>Excel's formatting tools implement hierarchy and design best practices.</a:t>
            </a:r>
          </a:p>
          <a:p>
            <a:r>
              <a:rPr lang="en-US" dirty="0"/>
              <a:t>Use consistent styling across all charts in a report.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Ways Charts Mislead</a:t>
            </a:r>
          </a:p>
        </p:txBody>
      </p:sp>
      <p:sp>
        <p:nvSpPr>
          <p:cNvPr id="3" name="Content Placeholder 2"/>
          <p:cNvSpPr>
            <a:spLocks noGrp="1"/>
          </p:cNvSpPr>
          <p:nvPr>
            <p:ph idx="1"/>
          </p:nvPr>
        </p:nvSpPr>
        <p:spPr/>
        <p:txBody>
          <a:bodyPr/>
          <a:lstStyle/>
          <a:p>
            <a:r>
              <a:rPr lang="en-US" dirty="0"/>
              <a:t>Dual axes with different scales make unrelated trends appear correlated.</a:t>
            </a:r>
          </a:p>
          <a:p>
            <a:r>
              <a:rPr lang="en-US" dirty="0"/>
              <a:t>3D effects and exploded pie slices distort proportions.</a:t>
            </a:r>
          </a:p>
          <a:p>
            <a:r>
              <a:rPr lang="en-US" dirty="0"/>
              <a:t>Choosing the wrong chart type misrepresents the data relationship.</a:t>
            </a:r>
          </a:p>
          <a:p>
            <a:r>
              <a:rPr lang="en-US" dirty="0"/>
              <a:t>Area-based encodings overestimate differences compared to length-based ones.</a:t>
            </a:r>
          </a:p>
          <a:p>
            <a:r>
              <a:rPr lang="en-US" dirty="0"/>
              <a:t>Inappropriate scaling can disguise or exaggerate true relationships.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Responsibilities in Data Visualization</a:t>
            </a:r>
          </a:p>
        </p:txBody>
      </p:sp>
      <p:sp>
        <p:nvSpPr>
          <p:cNvPr id="3" name="Content Placeholder 2"/>
          <p:cNvSpPr>
            <a:spLocks noGrp="1"/>
          </p:cNvSpPr>
          <p:nvPr>
            <p:ph idx="1"/>
          </p:nvPr>
        </p:nvSpPr>
        <p:spPr/>
        <p:txBody>
          <a:bodyPr/>
          <a:lstStyle/>
          <a:p>
            <a:r>
              <a:rPr lang="en-US" dirty="0"/>
              <a:t>Visualizations used to inform decisions carry significant ethical weight.</a:t>
            </a:r>
          </a:p>
          <a:p>
            <a:r>
              <a:rPr lang="en-US" dirty="0"/>
              <a:t>Never manipulate scales or ranges to support a preferred narrative.</a:t>
            </a:r>
          </a:p>
          <a:p>
            <a:r>
              <a:rPr lang="en-US" dirty="0"/>
              <a:t>Disclose data sources and any transformations applied.</a:t>
            </a:r>
          </a:p>
          <a:p>
            <a:r>
              <a:rPr lang="en-US" dirty="0"/>
              <a:t>Critically evaluate charts in media and professional reports.</a:t>
            </a:r>
          </a:p>
          <a:p>
            <a:r>
              <a:rPr lang="en-US" dirty="0"/>
              <a:t>Accurate representation builds credibility and audience trust.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Charts in Excel: Getting Started</a:t>
            </a:r>
          </a:p>
        </p:txBody>
      </p:sp>
      <p:sp>
        <p:nvSpPr>
          <p:cNvPr id="3" name="Content Placeholder 2"/>
          <p:cNvSpPr>
            <a:spLocks noGrp="1"/>
          </p:cNvSpPr>
          <p:nvPr>
            <p:ph idx="1"/>
          </p:nvPr>
        </p:nvSpPr>
        <p:spPr/>
        <p:txBody>
          <a:bodyPr/>
          <a:lstStyle/>
          <a:p>
            <a:r>
              <a:rPr lang="en-US" dirty="0"/>
              <a:t>Select your data range before inserting a chart.</a:t>
            </a:r>
          </a:p>
          <a:p>
            <a:r>
              <a:rPr lang="en-US" dirty="0"/>
              <a:t>Use the Insert tab to access all available chart types.</a:t>
            </a:r>
          </a:p>
          <a:p>
            <a:r>
              <a:rPr lang="en-US" dirty="0"/>
              <a:t>Excel recommends chart types based on your selected data.</a:t>
            </a:r>
          </a:p>
          <a:p>
            <a:r>
              <a:rPr lang="en-US" dirty="0"/>
              <a:t>Adjust the data range after insertion if needed.</a:t>
            </a:r>
          </a:p>
          <a:p>
            <a:r>
              <a:rPr lang="en-US" dirty="0"/>
              <a:t>Move charts to a dedicated sheet for cleaner presentation.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Charts in Excel</a:t>
            </a:r>
          </a:p>
        </p:txBody>
      </p:sp>
      <p:sp>
        <p:nvSpPr>
          <p:cNvPr id="3" name="Content Placeholder 2"/>
          <p:cNvSpPr>
            <a:spLocks noGrp="1"/>
          </p:cNvSpPr>
          <p:nvPr>
            <p:ph idx="1"/>
          </p:nvPr>
        </p:nvSpPr>
        <p:spPr/>
        <p:txBody>
          <a:bodyPr/>
          <a:lstStyle/>
          <a:p>
            <a:r>
              <a:rPr lang="en-US" dirty="0"/>
              <a:t>Use Chart Design tab for pre-built layouts and color styles.</a:t>
            </a:r>
          </a:p>
          <a:p>
            <a:r>
              <a:rPr lang="en-US" dirty="0"/>
              <a:t>Format individual elements for precise visual control.</a:t>
            </a:r>
          </a:p>
          <a:p>
            <a:r>
              <a:rPr lang="en-US" dirty="0"/>
              <a:t>Add descriptive titles and axis labels for context.</a:t>
            </a:r>
          </a:p>
          <a:p>
            <a:r>
              <a:rPr lang="en-US" dirty="0"/>
              <a:t>Double-click any element to access its formatting panel.</a:t>
            </a:r>
          </a:p>
          <a:p>
            <a:r>
              <a:rPr lang="en-US" dirty="0"/>
              <a:t>Apply consistent fonts, colors, and spacing throughout.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Effective Visual Summaries in Excel</a:t>
            </a:r>
          </a:p>
        </p:txBody>
      </p:sp>
      <p:sp>
        <p:nvSpPr>
          <p:cNvPr id="3" name="Content Placeholder 2"/>
          <p:cNvSpPr>
            <a:spLocks noGrp="1"/>
          </p:cNvSpPr>
          <p:nvPr>
            <p:ph idx="1"/>
          </p:nvPr>
        </p:nvSpPr>
        <p:spPr/>
        <p:txBody>
          <a:bodyPr/>
          <a:lstStyle/>
          <a:p>
            <a:r>
              <a:rPr lang="en-US" dirty="0"/>
              <a:t>Choose the chart type that best fits your summary's message.</a:t>
            </a:r>
          </a:p>
          <a:p>
            <a:r>
              <a:rPr lang="en-US" dirty="0"/>
              <a:t>Apply visual hierarchy so the key insight is immediately visible.</a:t>
            </a:r>
          </a:p>
          <a:p>
            <a:r>
              <a:rPr lang="en-US" dirty="0"/>
              <a:t>Combine charts, annotations, and supporting text in one layout.</a:t>
            </a:r>
          </a:p>
          <a:p>
            <a:r>
              <a:rPr lang="en-US" dirty="0"/>
              <a:t>Use color purposefully and consistently across the summary.</a:t>
            </a:r>
          </a:p>
          <a:p>
            <a:r>
              <a:rPr lang="en-US" dirty="0"/>
              <a:t>Add titles, labels, and annotations to make charts self-explanatory.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Avoiding Mistakes in Visual Summaries</a:t>
            </a:r>
          </a:p>
        </p:txBody>
      </p:sp>
      <p:sp>
        <p:nvSpPr>
          <p:cNvPr id="3" name="Content Placeholder 2"/>
          <p:cNvSpPr>
            <a:spLocks noGrp="1"/>
          </p:cNvSpPr>
          <p:nvPr>
            <p:ph idx="1"/>
          </p:nvPr>
        </p:nvSpPr>
        <p:spPr/>
        <p:txBody>
          <a:bodyPr/>
          <a:lstStyle/>
          <a:p>
            <a:r>
              <a:rPr lang="en-US" dirty="0"/>
              <a:t>Never truncate axes or apply 3D effects in summaries.</a:t>
            </a:r>
          </a:p>
          <a:p>
            <a:r>
              <a:rPr lang="en-US" dirty="0"/>
              <a:t>Verify that chart types match the data relationships shown.</a:t>
            </a:r>
          </a:p>
          <a:p>
            <a:r>
              <a:rPr lang="en-US" dirty="0"/>
              <a:t>Avoid overloading a single chart with too many variables.</a:t>
            </a:r>
          </a:p>
          <a:p>
            <a:r>
              <a:rPr lang="en-US" dirty="0"/>
              <a:t>Ensure color choices are accessible to colorblind viewers.</a:t>
            </a:r>
          </a:p>
          <a:p>
            <a:r>
              <a:rPr lang="en-US" dirty="0"/>
              <a:t>Remove decorative elements that distract from the data.</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and Refining for Professional Output</a:t>
            </a:r>
          </a:p>
        </p:txBody>
      </p:sp>
      <p:sp>
        <p:nvSpPr>
          <p:cNvPr id="3" name="Content Placeholder 2"/>
          <p:cNvSpPr>
            <a:spLocks noGrp="1"/>
          </p:cNvSpPr>
          <p:nvPr>
            <p:ph idx="1"/>
          </p:nvPr>
        </p:nvSpPr>
        <p:spPr/>
        <p:txBody>
          <a:bodyPr/>
          <a:lstStyle/>
          <a:p>
            <a:r>
              <a:rPr lang="en-US" dirty="0"/>
              <a:t>Review every chart for accuracy, clarity, and consistency.</a:t>
            </a:r>
          </a:p>
          <a:p>
            <a:r>
              <a:rPr lang="en-US" dirty="0"/>
              <a:t>Check that titles and labels are complete and descriptive.</a:t>
            </a:r>
          </a:p>
          <a:p>
            <a:r>
              <a:rPr lang="en-US" dirty="0"/>
              <a:t>Test readability by viewing the chart at its intended display size.</a:t>
            </a:r>
          </a:p>
          <a:p>
            <a:r>
              <a:rPr lang="en-US" dirty="0"/>
              <a:t>Seek peer feedback before finalizing any visual summary.</a:t>
            </a:r>
          </a:p>
          <a:p>
            <a:r>
              <a:rPr lang="en-US" dirty="0"/>
              <a:t>A deliberate review process ensures professional, polished results.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Key Principles to Remember</a:t>
            </a:r>
          </a:p>
        </p:txBody>
      </p:sp>
      <p:sp>
        <p:nvSpPr>
          <p:cNvPr id="3" name="Content Placeholder 2"/>
          <p:cNvSpPr>
            <a:spLocks noGrp="1"/>
          </p:cNvSpPr>
          <p:nvPr>
            <p:ph idx="1"/>
          </p:nvPr>
        </p:nvSpPr>
        <p:spPr/>
        <p:txBody>
          <a:bodyPr/>
          <a:lstStyle/>
          <a:p>
            <a:r>
              <a:rPr lang="en-US" dirty="0"/>
              <a:t>Match chart type to the data relationship and audience need.</a:t>
            </a:r>
          </a:p>
          <a:p>
            <a:r>
              <a:rPr lang="en-US" dirty="0"/>
              <a:t>Apply visual hierarchy, color, and contrast with intention.</a:t>
            </a:r>
          </a:p>
          <a:p>
            <a:r>
              <a:rPr lang="en-US" dirty="0"/>
              <a:t>Never distort axes, scales, or data ranges to mislead.</a:t>
            </a:r>
          </a:p>
          <a:p>
            <a:r>
              <a:rPr lang="en-US" dirty="0"/>
              <a:t>Use Excel's tools to format and refine professional charts.</a:t>
            </a:r>
          </a:p>
          <a:p>
            <a:r>
              <a:rPr lang="en-US" dirty="0"/>
              <a:t>Review every visual summary for accuracy, clarity, and ethics.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Data Visualization Principles and Excel Charting</dc:title>
  <dc:creator>PreseMaker</dc:creator>
  <cp:lastModifiedBy>PreseMaker</cp:lastModifiedBy>
  <dcterms:created xsi:type="dcterms:W3CDTF">2026-07-03T17:57:59Z</dcterms:created>
  <dcterms:modified xsi:type="dcterms:W3CDTF">2026-07-03T17:57:59Z</dcterms:modified>
</cp:coreProperties>
</file>
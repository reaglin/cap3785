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students. This presentation covers essential Excel skills used in professional data analysis, including VLOOKUP, INDEX-MATCH, conditional aggregation, statistical functions, PivotTables, and real-world application workflows. By the end, you will be equipped to work confidently with complex datasets.</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VLOOKUP stands for Vertical Lookup. It is one of Excel's most widely used built-in functions. The function scans down the first column of a defined table range and returns a value from a column you specify. The fourth argument, range_lookup, is critical — FALSE ensures an exact match, which is almost always what you want in business scenarios. Emphasize the importance of understanding each argument before applying the function.</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VLOOKUP is widely used for tasks such as merging datasets, retrieving prices from product lists, or pulling employee information from a master table. However, it has notable limitations. The lookup column must be the leftmost in the table array, making left-side lookups impossible. Additionally, hardcoding the column index number makes the formula fragile — inserting or deleting columns shifts the index and returns incorrect results. These limitations are key reasons professionals often prefer INDEX-MATCH.</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INDEX-MATCH is a combination of two separate Excel functions. INDEX retrieves a value based on its row and column position within a range, while MATCH finds the relative position of a lookup value within a one-dimensional range. When nested together, MATCH feeds the row position into INDEX, enabling flexible data retrieval. The argument 0 in MATCH specifies an exact match. This combination overcomes many of VLOOKUP's structural constraints.</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INDEX-MATCH is preferred in professional settings because it supports left-side lookups, is not prone to breaking when columns are added or removed, and can handle more complex retrieval scenarios. In contrast, VLOOKUP is easier to learn and sufficient for simple tasks. The key structural difference is that VLOOKUP requires the lookup column to be leftmost, while INDEX-MATCH separates the lookup range from the return range entirely, allowing any column arrangement. When working with large or frequently modified datasets, INDEX-MATCH is the more reliable choice.</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Practical application of VLOOKUP and INDEX-MATCH involves retrieving data across multiple related tables, which is a common requirement in business data analysis and reporting. For example, a sales analyst might use VLOOKUP to match product IDs to their descriptions from a product master table. INDEX-MATCH would be used when the return column appears to the left of the lookup column. Always validate results with known test cases before applying formulas to full datasets.</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Conditional aggregation functions allow you to perform calculations only on data that meets one or more specified criteria, rather than on an entire dataset. SUMIF is ideal for targeted totals — for example, summing all sales from a specific region. COUNTIF enables quick frequency analysis, such as counting how many orders belong to a particular category. AVERAGEIF provides conditional means, useful for comparing performance across groups. All three share a similar syntax structure centered on a criteria range and a criteria argument.</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criteria argument is the core of conditional aggregation functions, and understanding how to write it correctly determines the accuracy of your results. Criteria can be exact values, text strings, cell references, or comparison expressions enclosed in quotation marks such as "&gt;500" or "&lt;&gt;0". Wildcard characters like asterisk (*) and question mark (?) are useful for partial matches. In practice, SUMIF, COUNTIF, and AVERAGEIF are used together to build comprehensive summaries and dashboards from raw business or research data, enabling analysts to answer targeted questions efficiently.</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Excel's statistical functions begin with measures of central tendency. AVERAGE computes the arithmetic mean across a range, while AVERAGEIF extends this conditionally. MEDIAN returns the middle value when data is sorted, making it more resistant to skewed distributions or outliers than the mean. MODE identifies the most common value, which is particularly useful for categorical or discrete data. Together, these three measures give analysts a comprehensive picture of the center of a distribution.</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Excel provides STDEV.S for calculating the sample standard deviation and STDEV.P for the population standard deviation, both measuring the spread or variability of data around the mean. VAR.S and VAR.P calculate the squared average deviation from the mean for sample and population data respectively, forming the mathematical basis for standard deviation. MIN and MAX identify the range extremes, while LARGE and SMALL allow retrieval of any ranked value — for example, the third largest sale. COUNT tallies numeric entries, COUNTA counts all non-empty cells, and COUNTIF counts cells meeting a specific condition, enabling frequency and data completeness analysis.</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Once computed, descriptive statistics such as mean, median, standard deviation, and range must be interpreted together to characterize the distribution and variability of a dataset. A large gap between mean and median suggests skewness. High standard deviation indicates that data points are spread far from the average, while low standard deviation reflects consistency. MIN, MAX, and range values highlight the boundaries of the dataset. Analysts should also use COUNT and COUNTA to confirm data completeness before drawing conclusions.</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PivotTables are one of Excel's most powerful tools for summarizing large datasets quickly and interactively. Users drag and drop fields into the Rows, Columns, Values, and Filters sections to reshape data without formulas. PivotTables support multiple aggregation functions including SUM, COUNT, AVERAGE, MIN, and MAX. Converting raw data into a formal Excel Table first provides a structured foundation that enhances summarization accuracy and efficiency — tables auto-expand as new data is added. Slicers and PivotTable filters enable users to create interactive, user-friendly dashboards that allow on-the-fly data exploration.</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Keeping summarized data current is essential when working with datasets that are regularly updated or expanded. PivotTables must be manually refreshed — right-clicking and selecting Refresh updates the summary to reflect source data changes. Excel Tables, however, automatically expand their range when new rows or columns are added, making them ideal as PivotTable data sources. For formula-based summaries using SUMIF, COUNTIF, and AVERAGEIF, results update dynamically as data changes. Analysts should establish a consistent refresh routine and document their data sources to maintain reporting integrity.</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Real-world datasets often span multiple tables or sheets, requiring lookup functions to consolidate information into a unified view for analysis. Conditional aggregation functions allow analysts to compute metrics for specific data subsets, directly answering targeted business questions such as total revenue by region or average order size by category. Statistical functions then describe the distribution and variability of that data. A structured analytical workflow moves from data preparation through calculation to interpretation, ensuring reproducibility and clarity. The ultimate goal is to translate numerical outputs into meaningful insights that inform decisions — this requires both technical accuracy and clear communication.</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VLOOKUP is a straightforward lookup tool, while INDEX-MATCH provides greater flexibility and robustness for professional use. Conditional aggregation functions — SUMIF, COUNTIF, and AVERAGEIF — allow targeted calculations based on specific criteria. Built-in statistical functions including AVERAGE, MEDIAN, STDEV, VAR, MIN, MAX, and COUNT enable comprehensive descriptive analysis. PivotTables and Excel Tables make it possible to summarize and maintain large datasets efficiently. When these tools are integrated into a structured analytical workflow, students and professionals alike can extract meaningful insights from real-world data and communicate findings with confidence.</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Excel Functions and Statistical Tools</a:t>
            </a:r>
          </a:p>
        </p:txBody>
      </p:sp>
      <p:sp>
        <p:nvSpPr>
          <p:cNvPr id="3" name="Content Placeholder 2"/>
          <p:cNvSpPr>
            <a:spLocks noGrp="1"/>
          </p:cNvSpPr>
          <p:nvPr>
            <p:ph idx="1"/>
          </p:nvPr>
        </p:nvSpPr>
        <p:spPr/>
        <p:txBody>
          <a:bodyPr/>
          <a:lstStyle/>
          <a:p>
            <a:pPr algn="ctr">
              <a:buNone/>
            </a:pPr>
            <a:r>
              <a:rPr lang="en-US" dirty="0"/>
              <a:t>A professional guide to lookup, statistical, and summarization functions for data analysis.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VLOOKUP</a:t>
            </a:r>
          </a:p>
        </p:txBody>
      </p:sp>
      <p:sp>
        <p:nvSpPr>
          <p:cNvPr id="3" name="Content Placeholder 2"/>
          <p:cNvSpPr>
            <a:spLocks noGrp="1"/>
          </p:cNvSpPr>
          <p:nvPr>
            <p:ph idx="1"/>
          </p:nvPr>
        </p:nvSpPr>
        <p:spPr/>
        <p:txBody>
          <a:bodyPr/>
          <a:lstStyle/>
          <a:p>
            <a:r>
              <a:rPr lang="en-US" dirty="0"/>
              <a:t>VLOOKUP searches the leftmost column for a target value.</a:t>
            </a:r>
          </a:p>
          <a:p>
            <a:r>
              <a:rPr lang="en-US" dirty="0"/>
              <a:t>Returns a value from a specified column to the right.</a:t>
            </a:r>
          </a:p>
          <a:p>
            <a:r>
              <a:rPr lang="en-US" dirty="0"/>
              <a:t>Syntax: =VLOOKUP(lookup_value, table_array, col_index, range_lookup)</a:t>
            </a:r>
          </a:p>
          <a:p>
            <a:r>
              <a:rPr lang="en-US" dirty="0"/>
              <a:t>Use FALSE for exact matches; TRUE for approximate matches.</a:t>
            </a:r>
          </a:p>
          <a:p>
            <a:r>
              <a:rPr lang="en-US" dirty="0"/>
              <a:t>Ideal for retrieving data from structured, vertical tables.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VLOOKUP Use Cases and Limitations</a:t>
            </a:r>
          </a:p>
        </p:txBody>
      </p:sp>
      <p:sp>
        <p:nvSpPr>
          <p:cNvPr id="3" name="Content Placeholder 2"/>
          <p:cNvSpPr>
            <a:spLocks noGrp="1"/>
          </p:cNvSpPr>
          <p:nvPr>
            <p:ph idx="1"/>
          </p:nvPr>
        </p:nvSpPr>
        <p:spPr/>
        <p:txBody>
          <a:bodyPr/>
          <a:lstStyle/>
          <a:p>
            <a:r>
              <a:rPr lang="en-US" dirty="0"/>
              <a:t>Common uses: merging datasets, price lookups, employee records.</a:t>
            </a:r>
          </a:p>
          <a:p>
            <a:r>
              <a:rPr lang="en-US" dirty="0"/>
              <a:t>Lookup column must always be the leftmost column.</a:t>
            </a:r>
          </a:p>
          <a:p>
            <a:r>
              <a:rPr lang="en-US" dirty="0"/>
              <a:t>Column index breaks when columns are inserted or deleted.</a:t>
            </a:r>
          </a:p>
          <a:p>
            <a:r>
              <a:rPr lang="en-US" dirty="0"/>
              <a:t>Cannot look up values to the left of the lookup column.</a:t>
            </a:r>
          </a:p>
          <a:p>
            <a:r>
              <a:rPr lang="en-US" dirty="0"/>
              <a:t>Large datasets may experience slower performance.</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INDEX-MATCH</a:t>
            </a:r>
          </a:p>
        </p:txBody>
      </p:sp>
      <p:sp>
        <p:nvSpPr>
          <p:cNvPr id="3" name="Content Placeholder 2"/>
          <p:cNvSpPr>
            <a:spLocks noGrp="1"/>
          </p:cNvSpPr>
          <p:nvPr>
            <p:ph idx="1"/>
          </p:nvPr>
        </p:nvSpPr>
        <p:spPr/>
        <p:txBody>
          <a:bodyPr/>
          <a:lstStyle/>
          <a:p>
            <a:r>
              <a:rPr lang="en-US" dirty="0"/>
              <a:t>INDEX returns a value from a specific row and column position.</a:t>
            </a:r>
          </a:p>
          <a:p>
            <a:r>
              <a:rPr lang="en-US" dirty="0"/>
              <a:t>MATCH locates the position of a value within a range.</a:t>
            </a:r>
          </a:p>
          <a:p>
            <a:r>
              <a:rPr lang="en-US" dirty="0"/>
              <a:t>Combined syntax: =INDEX(return_range, MATCH(lookup_value, lookup_range, 0))</a:t>
            </a:r>
          </a:p>
          <a:p>
            <a:r>
              <a:rPr lang="en-US" dirty="0"/>
              <a:t>MATCH with 0 performs an exact match lookup.</a:t>
            </a:r>
          </a:p>
          <a:p>
            <a:r>
              <a:rPr lang="en-US" dirty="0"/>
              <a:t>Together, they form a dynamic, flexible lookup tool.</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INDEX-MATCH Advantages and Key Differences</a:t>
            </a:r>
          </a:p>
        </p:txBody>
      </p:sp>
      <p:sp>
        <p:nvSpPr>
          <p:cNvPr id="3" name="Content Placeholder 2"/>
          <p:cNvSpPr>
            <a:spLocks noGrp="1"/>
          </p:cNvSpPr>
          <p:nvPr>
            <p:ph idx="1"/>
          </p:nvPr>
        </p:nvSpPr>
        <p:spPr/>
        <p:txBody>
          <a:bodyPr/>
          <a:lstStyle/>
          <a:p>
            <a:r>
              <a:rPr lang="en-US" dirty="0"/>
              <a:t>Supports left-side lookups — no column position restriction.</a:t>
            </a:r>
          </a:p>
          <a:p>
            <a:r>
              <a:rPr lang="en-US" dirty="0"/>
              <a:t>Not affected by inserted or deleted columns.</a:t>
            </a:r>
          </a:p>
          <a:p>
            <a:r>
              <a:rPr lang="en-US" dirty="0"/>
              <a:t>More robust and preferred in professional environments.</a:t>
            </a:r>
          </a:p>
          <a:p>
            <a:r>
              <a:rPr lang="en-US" dirty="0"/>
              <a:t>VLOOKUP is simpler; INDEX-MATCH is more flexible.</a:t>
            </a:r>
          </a:p>
          <a:p>
            <a:r>
              <a:rPr lang="en-US" dirty="0"/>
              <a:t>INDEX-MATCH handles complex, multi-directional retrieval scenarios.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Lookup Functions to Real-World Datasets</a:t>
            </a:r>
          </a:p>
        </p:txBody>
      </p:sp>
      <p:sp>
        <p:nvSpPr>
          <p:cNvPr id="3" name="Content Placeholder 2"/>
          <p:cNvSpPr>
            <a:spLocks noGrp="1"/>
          </p:cNvSpPr>
          <p:nvPr>
            <p:ph idx="1"/>
          </p:nvPr>
        </p:nvSpPr>
        <p:spPr/>
        <p:txBody>
          <a:bodyPr/>
          <a:lstStyle/>
          <a:p>
            <a:r>
              <a:rPr lang="en-US" dirty="0"/>
              <a:t>Retrieve data across multiple related tables or sheets.</a:t>
            </a:r>
          </a:p>
          <a:p>
            <a:r>
              <a:rPr lang="en-US" dirty="0"/>
              <a:t>Use VLOOKUP to merge product, sales, or HR data.</a:t>
            </a:r>
          </a:p>
          <a:p>
            <a:r>
              <a:rPr lang="en-US" dirty="0"/>
              <a:t>Use INDEX-MATCH when lookup column is not leftmost.</a:t>
            </a:r>
          </a:p>
          <a:p>
            <a:r>
              <a:rPr lang="en-US" dirty="0"/>
              <a:t>Combine lookups with formatting for clear reporting outputs.</a:t>
            </a:r>
          </a:p>
          <a:p>
            <a:r>
              <a:rPr lang="en-US" dirty="0"/>
              <a:t>Test formulas with known values to verify accuracy.</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Aggregation: SUMIF, COUNTIF, and AVERAGEIF</a:t>
            </a:r>
          </a:p>
        </p:txBody>
      </p:sp>
      <p:sp>
        <p:nvSpPr>
          <p:cNvPr id="3" name="Content Placeholder 2"/>
          <p:cNvSpPr>
            <a:spLocks noGrp="1"/>
          </p:cNvSpPr>
          <p:nvPr>
            <p:ph idx="1"/>
          </p:nvPr>
        </p:nvSpPr>
        <p:spPr/>
        <p:txBody>
          <a:bodyPr/>
          <a:lstStyle/>
          <a:p>
            <a:r>
              <a:rPr lang="en-US" dirty="0"/>
              <a:t>Conditional functions calculate only for data meeting set criteria.</a:t>
            </a:r>
          </a:p>
          <a:p>
            <a:r>
              <a:rPr lang="en-US" dirty="0"/>
              <a:t>SUMIF: sums values where a condition is satisfied.</a:t>
            </a:r>
          </a:p>
          <a:p>
            <a:r>
              <a:rPr lang="en-US" dirty="0"/>
              <a:t>COUNTIF: counts cells matching a single criterion.</a:t>
            </a:r>
          </a:p>
          <a:p>
            <a:r>
              <a:rPr lang="en-US" dirty="0"/>
              <a:t>AVERAGEIF: averages values meeting a specified condition.</a:t>
            </a:r>
          </a:p>
          <a:p>
            <a:r>
              <a:rPr lang="en-US" dirty="0"/>
              <a:t>Each function uses a criteria range and criteria argument.</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Effective Criteria and Real-World Application</a:t>
            </a:r>
          </a:p>
        </p:txBody>
      </p:sp>
      <p:sp>
        <p:nvSpPr>
          <p:cNvPr id="3" name="Content Placeholder 2"/>
          <p:cNvSpPr>
            <a:spLocks noGrp="1"/>
          </p:cNvSpPr>
          <p:nvPr>
            <p:ph idx="1"/>
          </p:nvPr>
        </p:nvSpPr>
        <p:spPr/>
        <p:txBody>
          <a:bodyPr/>
          <a:lstStyle/>
          <a:p>
            <a:r>
              <a:rPr lang="en-US" dirty="0"/>
              <a:t>Criteria can be numbers, text, cell references, or expressions.</a:t>
            </a:r>
          </a:p>
          <a:p>
            <a:r>
              <a:rPr lang="en-US" dirty="0"/>
              <a:t>Use operators like "&gt;", "&lt;", "&lt;&gt;" within criteria strings.</a:t>
            </a:r>
          </a:p>
          <a:p>
            <a:r>
              <a:rPr lang="en-US" dirty="0"/>
              <a:t>Wildcard characters (* and ?) support partial text matching.</a:t>
            </a:r>
          </a:p>
          <a:p>
            <a:r>
              <a:rPr lang="en-US" dirty="0"/>
              <a:t>Combine SUMIF, COUNTIF, AVERAGEIF to build dashboards.</a:t>
            </a:r>
          </a:p>
          <a:p>
            <a:r>
              <a:rPr lang="en-US" dirty="0"/>
              <a:t>Apply to sales, HR, or research datasets for summaries.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Built-in Statistical Functions: Central Tendency</a:t>
            </a:r>
          </a:p>
        </p:txBody>
      </p:sp>
      <p:sp>
        <p:nvSpPr>
          <p:cNvPr id="3" name="Content Placeholder 2"/>
          <p:cNvSpPr>
            <a:spLocks noGrp="1"/>
          </p:cNvSpPr>
          <p:nvPr>
            <p:ph idx="1"/>
          </p:nvPr>
        </p:nvSpPr>
        <p:spPr/>
        <p:txBody>
          <a:bodyPr/>
          <a:lstStyle/>
          <a:p>
            <a:r>
              <a:rPr lang="en-US" dirty="0"/>
              <a:t>AVERAGE computes the arithmetic mean of a value range.</a:t>
            </a:r>
          </a:p>
          <a:p>
            <a:r>
              <a:rPr lang="en-US" dirty="0"/>
              <a:t>AVERAGEIF calculates the mean for cells meeting a condition.</a:t>
            </a:r>
          </a:p>
          <a:p>
            <a:r>
              <a:rPr lang="en-US" dirty="0"/>
              <a:t>MEDIAN returns the middle value of a sorted dataset.</a:t>
            </a:r>
          </a:p>
          <a:p>
            <a:r>
              <a:rPr lang="en-US" dirty="0"/>
              <a:t>MODE identifies the most frequently occurring value.</a:t>
            </a:r>
          </a:p>
          <a:p>
            <a:r>
              <a:rPr lang="en-US" dirty="0"/>
              <a:t>Median and mode reduce the effect of extreme outliers.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Spread, Range, and Frequency Functions</a:t>
            </a:r>
          </a:p>
        </p:txBody>
      </p:sp>
      <p:sp>
        <p:nvSpPr>
          <p:cNvPr id="3" name="Content Placeholder 2"/>
          <p:cNvSpPr>
            <a:spLocks noGrp="1"/>
          </p:cNvSpPr>
          <p:nvPr>
            <p:ph idx="1"/>
          </p:nvPr>
        </p:nvSpPr>
        <p:spPr/>
        <p:txBody>
          <a:bodyPr/>
          <a:lstStyle/>
          <a:p>
            <a:r>
              <a:rPr lang="en-US" dirty="0"/>
              <a:t>STDEV.S: sample standard deviation for variability measurement.</a:t>
            </a:r>
          </a:p>
          <a:p>
            <a:r>
              <a:rPr lang="en-US" dirty="0"/>
              <a:t>STDEV.P: population standard deviation for complete datasets.</a:t>
            </a:r>
          </a:p>
          <a:p>
            <a:r>
              <a:rPr lang="en-US" dirty="0"/>
              <a:t>VAR.S and VAR.P calculate squared deviations from the mean.</a:t>
            </a:r>
          </a:p>
          <a:p>
            <a:r>
              <a:rPr lang="en-US" dirty="0"/>
              <a:t>MIN and MAX identify the smallest and largest values.</a:t>
            </a:r>
          </a:p>
          <a:p>
            <a:r>
              <a:rPr lang="en-US" dirty="0"/>
              <a:t>LARGE, SMALL retrieve any ranked value; COUNT, COUNTA tally entries.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Interpreting Descriptive Statistics Output</a:t>
            </a:r>
          </a:p>
        </p:txBody>
      </p:sp>
      <p:sp>
        <p:nvSpPr>
          <p:cNvPr id="3" name="Content Placeholder 2"/>
          <p:cNvSpPr>
            <a:spLocks noGrp="1"/>
          </p:cNvSpPr>
          <p:nvPr>
            <p:ph idx="1"/>
          </p:nvPr>
        </p:nvSpPr>
        <p:spPr/>
        <p:txBody>
          <a:bodyPr/>
          <a:lstStyle/>
          <a:p>
            <a:r>
              <a:rPr lang="en-US" dirty="0"/>
              <a:t>Interpret mean, median, and mode together for full picture.</a:t>
            </a:r>
          </a:p>
          <a:p>
            <a:r>
              <a:rPr lang="en-US" dirty="0"/>
              <a:t>High standard deviation indicates wide data spread.</a:t>
            </a:r>
          </a:p>
          <a:p>
            <a:r>
              <a:rPr lang="en-US" dirty="0"/>
              <a:t>Compare MIN, MAX, and LARGE/SMALL for distributional range.</a:t>
            </a:r>
          </a:p>
          <a:p>
            <a:r>
              <a:rPr lang="en-US" dirty="0"/>
              <a:t>Use COUNT and COUNTA to assess dataset completeness.</a:t>
            </a:r>
          </a:p>
          <a:p>
            <a:r>
              <a:rPr lang="en-US" dirty="0"/>
              <a:t>Descriptive stats form the foundation of any data report.</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Summarization with PivotTables and Excel Tables</a:t>
            </a:r>
          </a:p>
        </p:txBody>
      </p:sp>
      <p:sp>
        <p:nvSpPr>
          <p:cNvPr id="3" name="Content Placeholder 2"/>
          <p:cNvSpPr>
            <a:spLocks noGrp="1"/>
          </p:cNvSpPr>
          <p:nvPr>
            <p:ph idx="1"/>
          </p:nvPr>
        </p:nvSpPr>
        <p:spPr/>
        <p:txBody>
          <a:bodyPr/>
          <a:lstStyle/>
          <a:p>
            <a:r>
              <a:rPr lang="en-US" dirty="0"/>
              <a:t>PivotTables interactively summarize large datasets quickly.</a:t>
            </a:r>
          </a:p>
          <a:p>
            <a:r>
              <a:rPr lang="en-US" dirty="0"/>
              <a:t>Drag fields into Rows, Columns, Values, and Filters areas.</a:t>
            </a:r>
          </a:p>
          <a:p>
            <a:r>
              <a:rPr lang="en-US" dirty="0"/>
              <a:t>Group and aggregate data with SUM, COUNT, AVERAGE, and more.</a:t>
            </a:r>
          </a:p>
          <a:p>
            <a:r>
              <a:rPr lang="en-US" dirty="0"/>
              <a:t>Convert raw data to Excel Tables for structured analysis.</a:t>
            </a:r>
          </a:p>
          <a:p>
            <a:r>
              <a:rPr lang="en-US" dirty="0"/>
              <a:t>Slicers and filters enable interactive, on-the-fly exploration.</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Refreshing and Maintaining Summarized Data</a:t>
            </a:r>
          </a:p>
        </p:txBody>
      </p:sp>
      <p:sp>
        <p:nvSpPr>
          <p:cNvPr id="3" name="Content Placeholder 2"/>
          <p:cNvSpPr>
            <a:spLocks noGrp="1"/>
          </p:cNvSpPr>
          <p:nvPr>
            <p:ph idx="1"/>
          </p:nvPr>
        </p:nvSpPr>
        <p:spPr/>
        <p:txBody>
          <a:bodyPr/>
          <a:lstStyle/>
          <a:p>
            <a:r>
              <a:rPr lang="en-US" dirty="0"/>
              <a:t>PivotTables do not auto-update when source data changes.</a:t>
            </a:r>
          </a:p>
          <a:p>
            <a:r>
              <a:rPr lang="en-US" dirty="0"/>
              <a:t>Right-click the PivotTable and select Refresh to update.</a:t>
            </a:r>
          </a:p>
          <a:p>
            <a:r>
              <a:rPr lang="en-US" dirty="0"/>
              <a:t>Excel Tables expand automatically when new rows are added.</a:t>
            </a:r>
          </a:p>
          <a:p>
            <a:r>
              <a:rPr lang="en-US" dirty="0"/>
              <a:t>Use SUMIF and COUNTIF formulas for live, dynamic summaries.</a:t>
            </a:r>
          </a:p>
          <a:p>
            <a:r>
              <a:rPr lang="en-US" dirty="0"/>
              <a:t>Establish a refresh routine to keep reports accurate.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Analytical Functions to Real-World Datasets</a:t>
            </a:r>
          </a:p>
        </p:txBody>
      </p:sp>
      <p:sp>
        <p:nvSpPr>
          <p:cNvPr id="3" name="Content Placeholder 2"/>
          <p:cNvSpPr>
            <a:spLocks noGrp="1"/>
          </p:cNvSpPr>
          <p:nvPr>
            <p:ph idx="1"/>
          </p:nvPr>
        </p:nvSpPr>
        <p:spPr/>
        <p:txBody>
          <a:bodyPr/>
          <a:lstStyle/>
          <a:p>
            <a:r>
              <a:rPr lang="en-US" dirty="0"/>
              <a:t>Use VLOOKUP or INDEX-MATCH to consolidate data across tables.</a:t>
            </a:r>
          </a:p>
          <a:p>
            <a:r>
              <a:rPr lang="en-US" dirty="0"/>
              <a:t>Apply SUMIF, COUNTIF, AVERAGEIF to answer business questions.</a:t>
            </a:r>
          </a:p>
          <a:p>
            <a:r>
              <a:rPr lang="en-US" dirty="0"/>
              <a:t>Run statistical functions to describe dataset characteristics.</a:t>
            </a:r>
          </a:p>
          <a:p>
            <a:r>
              <a:rPr lang="en-US" dirty="0"/>
              <a:t>Structure workflow: prepare, calculate, interpret, communicate.</a:t>
            </a:r>
          </a:p>
          <a:p>
            <a:r>
              <a:rPr lang="en-US" dirty="0"/>
              <a:t>Translate function outputs into clear, decision-ready insights.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Key Takeaways</a:t>
            </a:r>
          </a:p>
        </p:txBody>
      </p:sp>
      <p:sp>
        <p:nvSpPr>
          <p:cNvPr id="3" name="Content Placeholder 2"/>
          <p:cNvSpPr>
            <a:spLocks noGrp="1"/>
          </p:cNvSpPr>
          <p:nvPr>
            <p:ph idx="1"/>
          </p:nvPr>
        </p:nvSpPr>
        <p:spPr/>
        <p:txBody>
          <a:bodyPr/>
          <a:lstStyle/>
          <a:p>
            <a:r>
              <a:rPr lang="en-US" dirty="0"/>
              <a:t>VLOOKUP retrieves data by column; INDEX-MATCH is more flexible.</a:t>
            </a:r>
          </a:p>
          <a:p>
            <a:r>
              <a:rPr lang="en-US" dirty="0"/>
              <a:t>SUMIF, COUNTIF, AVERAGEIF aggregate data based on criteria.</a:t>
            </a:r>
          </a:p>
          <a:p>
            <a:r>
              <a:rPr lang="en-US" dirty="0"/>
              <a:t>Statistical functions describe central tendency, spread, and frequency.</a:t>
            </a:r>
          </a:p>
          <a:p>
            <a:r>
              <a:rPr lang="en-US" dirty="0"/>
              <a:t>PivotTables and Excel Tables streamline large dataset summarization.</a:t>
            </a:r>
          </a:p>
          <a:p>
            <a:r>
              <a:rPr lang="en-US" dirty="0"/>
              <a:t>Integrating these tools enables professional-grade data analysis.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15</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Advanced Excel Functions and Statistical Tools</dc:title>
  <dc:creator>PreseMaker</dc:creator>
  <cp:lastModifiedBy>PreseMaker</cp:lastModifiedBy>
  <dcterms:created xsi:type="dcterms:W3CDTF">2026-07-03T17:55:36Z</dcterms:created>
  <dcterms:modified xsi:type="dcterms:W3CDTF">2026-07-03T17:55:36Z</dcterms:modified>
</cp:coreProperties>
</file>